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23"/>
  </p:notesMasterIdLst>
  <p:handoutMasterIdLst>
    <p:handoutMasterId r:id="rId24"/>
  </p:handoutMasterIdLst>
  <p:sldIdLst>
    <p:sldId id="312" r:id="rId5"/>
    <p:sldId id="307" r:id="rId6"/>
    <p:sldId id="329" r:id="rId7"/>
    <p:sldId id="282" r:id="rId8"/>
    <p:sldId id="317" r:id="rId9"/>
    <p:sldId id="330" r:id="rId10"/>
    <p:sldId id="331" r:id="rId11"/>
    <p:sldId id="332" r:id="rId12"/>
    <p:sldId id="319" r:id="rId13"/>
    <p:sldId id="318" r:id="rId14"/>
    <p:sldId id="323" r:id="rId15"/>
    <p:sldId id="325" r:id="rId16"/>
    <p:sldId id="333" r:id="rId17"/>
    <p:sldId id="321" r:id="rId18"/>
    <p:sldId id="335" r:id="rId19"/>
    <p:sldId id="334" r:id="rId20"/>
    <p:sldId id="328" r:id="rId21"/>
    <p:sldId id="297" r:id="rId2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47B"/>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388" autoAdjust="0"/>
  </p:normalViewPr>
  <p:slideViewPr>
    <p:cSldViewPr snapToGrid="0" snapToObjects="1">
      <p:cViewPr varScale="1">
        <p:scale>
          <a:sx n="77" d="100"/>
          <a:sy n="77" d="100"/>
        </p:scale>
        <p:origin x="77" y="43"/>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514929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427227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04191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677010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06058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24178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16514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48F63A3B-78C7-47BE-AE5E-E10140E04643}" type="slidenum">
              <a:rPr lang="en-US" smtClean="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508629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800564793"/>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722057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33746244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507044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6" name="Freeform: Shape 5">
            <a:extLst>
              <a:ext uri="{FF2B5EF4-FFF2-40B4-BE49-F238E27FC236}">
                <a16:creationId xmlns:a16="http://schemas.microsoft.com/office/drawing/2014/main" id="{B61EED1B-5B21-365F-566D-0DD00385E69F}"/>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C2765B16-F8B4-D299-F0E5-FB3F6DA4E655}"/>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97331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BCE80BCB-084A-F16F-7F51-20AD75407B99}"/>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5">
            <a:extLst>
              <a:ext uri="{FF2B5EF4-FFF2-40B4-BE49-F238E27FC236}">
                <a16:creationId xmlns:a16="http://schemas.microsoft.com/office/drawing/2014/main" id="{141AB73A-C581-50BF-4FA8-203764618314}"/>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217447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8" name="Freeform: Shape 7">
            <a:extLst>
              <a:ext uri="{FF2B5EF4-FFF2-40B4-BE49-F238E27FC236}">
                <a16:creationId xmlns:a16="http://schemas.microsoft.com/office/drawing/2014/main" id="{460CF868-64E3-AE3E-041B-C8DFF369C4E5}"/>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764548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
        <p:nvSpPr>
          <p:cNvPr id="3" name="Freeform: Shape 2">
            <a:extLst>
              <a:ext uri="{FF2B5EF4-FFF2-40B4-BE49-F238E27FC236}">
                <a16:creationId xmlns:a16="http://schemas.microsoft.com/office/drawing/2014/main" id="{9A2D549F-5E1B-9D36-3B93-A132C65C815D}"/>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778174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405075229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075331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628023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10565869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347294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1249677"/>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34476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8677089"/>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37494003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30531512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82675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404511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7586674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35260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33385595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3188468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3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3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12/17/2025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05619343"/>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3" r:id="rId19"/>
    <p:sldLayoutId id="2147483714" r:id="rId20"/>
    <p:sldLayoutId id="2147483715" r:id="rId21"/>
    <p:sldLayoutId id="2147483717" r:id="rId22"/>
    <p:sldLayoutId id="2147483718" r:id="rId23"/>
    <p:sldLayoutId id="2147483719" r:id="rId24"/>
    <p:sldLayoutId id="2147483720" r:id="rId25"/>
    <p:sldLayoutId id="2147483653" r:id="rId26"/>
    <p:sldLayoutId id="2147483685" r:id="rId27"/>
    <p:sldLayoutId id="2147483692" r:id="rId28"/>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22.sv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_rels/slide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19.xml"/><Relationship Id="rId5" Type="http://schemas.openxmlformats.org/officeDocument/2006/relationships/image" Target="../media/image29.sv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33.sv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35.sv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2.xml"/><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22.xml"/><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45.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035928" y="810227"/>
            <a:ext cx="8120144" cy="3831221"/>
          </a:xfrm>
        </p:spPr>
        <p:txBody>
          <a:bodyPr anchor="ctr"/>
          <a:lstStyle/>
          <a:p>
            <a:r>
              <a:rPr lang="en-US" b="1" dirty="0">
                <a:solidFill>
                  <a:schemeClr val="accent4"/>
                </a:solidFill>
              </a:rPr>
              <a:t>HR ANALYTICS</a:t>
            </a:r>
            <a:br>
              <a:rPr lang="en-US" dirty="0"/>
            </a:br>
            <a:endParaRPr lang="en-US" sz="1800" dirty="0"/>
          </a:p>
        </p:txBody>
      </p:sp>
      <p:pic>
        <p:nvPicPr>
          <p:cNvPr id="8" name="Graphic 7" descr="Group success">
            <a:extLst>
              <a:ext uri="{FF2B5EF4-FFF2-40B4-BE49-F238E27FC236}">
                <a16:creationId xmlns:a16="http://schemas.microsoft.com/office/drawing/2014/main" id="{7348C5F6-3E4F-F214-F2A2-DCB5339CC0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94460" y="5561104"/>
            <a:ext cx="914400" cy="914400"/>
          </a:xfrm>
          <a:prstGeom prst="rect">
            <a:avLst/>
          </a:prstGeom>
        </p:spPr>
      </p:pic>
      <p:pic>
        <p:nvPicPr>
          <p:cNvPr id="10" name="Graphic 9" descr="Users">
            <a:extLst>
              <a:ext uri="{FF2B5EF4-FFF2-40B4-BE49-F238E27FC236}">
                <a16:creationId xmlns:a16="http://schemas.microsoft.com/office/drawing/2014/main" id="{D3378AB4-BA81-318B-4A3C-6E5A0445EB0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35553" y="4356155"/>
            <a:ext cx="914400" cy="914400"/>
          </a:xfrm>
          <a:prstGeom prst="rect">
            <a:avLst/>
          </a:prstGeom>
        </p:spPr>
      </p:pic>
      <p:pic>
        <p:nvPicPr>
          <p:cNvPr id="16" name="Graphic 15" descr="Person eating">
            <a:extLst>
              <a:ext uri="{FF2B5EF4-FFF2-40B4-BE49-F238E27FC236}">
                <a16:creationId xmlns:a16="http://schemas.microsoft.com/office/drawing/2014/main" id="{2E427412-9F93-3445-46A3-6F4D46B332D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42049" y="4356155"/>
            <a:ext cx="914400" cy="914400"/>
          </a:xfrm>
          <a:prstGeom prst="rect">
            <a:avLst/>
          </a:prstGeom>
        </p:spPr>
      </p:pic>
      <p:pic>
        <p:nvPicPr>
          <p:cNvPr id="24" name="Graphic 23" descr="Office worker">
            <a:extLst>
              <a:ext uri="{FF2B5EF4-FFF2-40B4-BE49-F238E27FC236}">
                <a16:creationId xmlns:a16="http://schemas.microsoft.com/office/drawing/2014/main" id="{1D5D2C86-4087-E6A5-31E7-80EEC6BE6E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38800" y="2971800"/>
            <a:ext cx="914400" cy="914400"/>
          </a:xfrm>
          <a:prstGeom prst="rect">
            <a:avLst/>
          </a:prstGeom>
        </p:spPr>
      </p:pic>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763604" y="1517779"/>
            <a:ext cx="3752645" cy="3822442"/>
          </a:xfrm>
        </p:spPr>
        <p:txBody>
          <a:bodyPr/>
          <a:lstStyle/>
          <a:p>
            <a:pPr>
              <a:lnSpc>
                <a:spcPct val="150000"/>
              </a:lnSpc>
            </a:pPr>
            <a:r>
              <a:rPr lang="en-US" sz="3200" i="1" dirty="0">
                <a:solidFill>
                  <a:srgbClr val="C00000"/>
                </a:solidFill>
                <a:latin typeface="Bell MT" panose="02020503060305020303" pitchFamily="18" charset="0"/>
              </a:rPr>
              <a:t>Agenda</a:t>
            </a:r>
            <a:br>
              <a:rPr lang="en-US" dirty="0"/>
            </a:br>
            <a:r>
              <a:rPr lang="en-US" sz="2000" dirty="0"/>
              <a:t>Project Overview</a:t>
            </a:r>
            <a:br>
              <a:rPr lang="en-US" sz="2000" dirty="0"/>
            </a:br>
            <a:r>
              <a:rPr lang="en-US" sz="2000" dirty="0"/>
              <a:t>Introduction</a:t>
            </a:r>
            <a:br>
              <a:rPr lang="en-US" sz="2000" dirty="0"/>
            </a:br>
            <a:r>
              <a:rPr lang="en-US" sz="2000" dirty="0"/>
              <a:t>Dataset Overview</a:t>
            </a:r>
            <a:br>
              <a:rPr lang="en-US" sz="2000" dirty="0"/>
            </a:br>
            <a:r>
              <a:rPr lang="en-US" sz="2000" dirty="0"/>
              <a:t>Data Merging</a:t>
            </a:r>
            <a:br>
              <a:rPr lang="en-US" sz="2000" dirty="0"/>
            </a:br>
            <a:r>
              <a:rPr lang="en-US" sz="2000" dirty="0"/>
              <a:t>Final Metric KPIs</a:t>
            </a:r>
            <a:br>
              <a:rPr lang="en-US" sz="2000" dirty="0"/>
            </a:br>
            <a:r>
              <a:rPr lang="en-US" sz="2000" dirty="0"/>
              <a:t>Dashboards</a:t>
            </a:r>
            <a:br>
              <a:rPr lang="en-US" sz="2000" dirty="0"/>
            </a:br>
            <a:r>
              <a:rPr lang="en-US" sz="2000" dirty="0"/>
              <a:t>Insights</a:t>
            </a:r>
            <a:br>
              <a:rPr lang="en-US" sz="2000" dirty="0"/>
            </a:br>
            <a:r>
              <a:rPr lang="en-US" sz="2000" dirty="0"/>
              <a:t>Key Takeaways</a:t>
            </a:r>
            <a:br>
              <a:rPr lang="en-US" sz="2000" dirty="0"/>
            </a:br>
            <a:r>
              <a:rPr lang="en-US" sz="2000" dirty="0"/>
              <a:t>Recommendations</a:t>
            </a:r>
            <a:br>
              <a:rPr lang="en-US" sz="2000" dirty="0"/>
            </a:br>
            <a:r>
              <a:rPr lang="en-US" sz="2000" dirty="0"/>
              <a:t>Conclusion</a:t>
            </a:r>
            <a:br>
              <a:rPr lang="en-US" dirty="0"/>
            </a:br>
            <a:endParaRPr lang="en-US" dirty="0"/>
          </a:p>
        </p:txBody>
      </p:sp>
      <p:cxnSp>
        <p:nvCxnSpPr>
          <p:cNvPr id="8" name="Straight Connector 7">
            <a:extLst>
              <a:ext uri="{FF2B5EF4-FFF2-40B4-BE49-F238E27FC236}">
                <a16:creationId xmlns:a16="http://schemas.microsoft.com/office/drawing/2014/main" id="{7D0E6B4A-A9AC-098C-CF74-BF806A8AFA96}"/>
              </a:ext>
            </a:extLst>
          </p:cNvPr>
          <p:cNvCxnSpPr>
            <a:cxnSpLocks/>
          </p:cNvCxnSpPr>
          <p:nvPr/>
        </p:nvCxnSpPr>
        <p:spPr>
          <a:xfrm>
            <a:off x="4361189" y="551341"/>
            <a:ext cx="87382" cy="5527750"/>
          </a:xfrm>
          <a:prstGeom prst="line">
            <a:avLst/>
          </a:prstGeom>
        </p:spPr>
        <p:style>
          <a:lnRef idx="1">
            <a:schemeClr val="accent6"/>
          </a:lnRef>
          <a:fillRef idx="0">
            <a:schemeClr val="accent6"/>
          </a:fillRef>
          <a:effectRef idx="0">
            <a:schemeClr val="accent6"/>
          </a:effectRef>
          <a:fontRef idx="minor">
            <a:schemeClr val="tx1"/>
          </a:fontRef>
        </p:style>
      </p:cxnSp>
      <p:sp>
        <p:nvSpPr>
          <p:cNvPr id="9" name="Title 1">
            <a:extLst>
              <a:ext uri="{FF2B5EF4-FFF2-40B4-BE49-F238E27FC236}">
                <a16:creationId xmlns:a16="http://schemas.microsoft.com/office/drawing/2014/main" id="{D53B219B-7E3A-7E84-6386-37313F0CFB09}"/>
              </a:ext>
            </a:extLst>
          </p:cNvPr>
          <p:cNvSpPr txBox="1">
            <a:spLocks/>
          </p:cNvSpPr>
          <p:nvPr/>
        </p:nvSpPr>
        <p:spPr>
          <a:xfrm>
            <a:off x="4751109" y="593891"/>
            <a:ext cx="4553146" cy="582989"/>
          </a:xfrm>
          <a:prstGeom prst="rect">
            <a:avLst/>
          </a:prstGeom>
        </p:spPr>
        <p:txBody>
          <a:bodyPr vert="horz" lIns="91440" tIns="0" rIns="91440" bIns="0" rtlCol="0" anchor="ctr" anchorCtr="0">
            <a:noAutofit/>
          </a:bodyPr>
          <a:lstStyle>
            <a:lvl1pPr algn="l" defTabSz="914400" rtl="0" eaLnBrk="1" latinLnBrk="0" hangingPunct="1">
              <a:lnSpc>
                <a:spcPct val="100000"/>
              </a:lnSpc>
              <a:spcBef>
                <a:spcPct val="0"/>
              </a:spcBef>
              <a:buNone/>
              <a:defRPr sz="3600" b="1" kern="1200" cap="all" baseline="0">
                <a:solidFill>
                  <a:schemeClr val="accent6"/>
                </a:solidFill>
                <a:latin typeface="+mj-lt"/>
                <a:ea typeface="+mj-ea"/>
                <a:cs typeface="+mj-cs"/>
              </a:defRPr>
            </a:lvl1pPr>
          </a:lstStyle>
          <a:p>
            <a:pPr algn="ctr"/>
            <a:r>
              <a:rPr lang="en-US" sz="2400" i="1" dirty="0">
                <a:solidFill>
                  <a:srgbClr val="C00000"/>
                </a:solidFill>
                <a:latin typeface="Bell MT" panose="02020503060305020303" pitchFamily="18" charset="0"/>
              </a:rPr>
              <a:t>List of TOOLS</a:t>
            </a:r>
          </a:p>
        </p:txBody>
      </p:sp>
      <p:sp>
        <p:nvSpPr>
          <p:cNvPr id="10" name="Text Placeholder 2">
            <a:extLst>
              <a:ext uri="{FF2B5EF4-FFF2-40B4-BE49-F238E27FC236}">
                <a16:creationId xmlns:a16="http://schemas.microsoft.com/office/drawing/2014/main" id="{A2E339BF-E6D7-DD0E-AF02-6813852EE723}"/>
              </a:ext>
            </a:extLst>
          </p:cNvPr>
          <p:cNvSpPr txBox="1">
            <a:spLocks/>
          </p:cNvSpPr>
          <p:nvPr/>
        </p:nvSpPr>
        <p:spPr>
          <a:xfrm>
            <a:off x="5090475" y="199020"/>
            <a:ext cx="4798242" cy="4787759"/>
          </a:xfrm>
          <a:prstGeom prst="rect">
            <a:avLst/>
          </a:prstGeom>
        </p:spPr>
        <p:txBody>
          <a:bodyPr>
            <a:norm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endParaRPr lang="en-US" dirty="0"/>
          </a:p>
          <a:p>
            <a:pPr marL="342900" indent="-342900">
              <a:lnSpc>
                <a:spcPct val="200000"/>
              </a:lnSpc>
            </a:pPr>
            <a:r>
              <a:rPr lang="en-US" sz="2400" b="1" dirty="0">
                <a:solidFill>
                  <a:srgbClr val="002060"/>
                </a:solidFill>
              </a:rPr>
              <a:t>MS-Excel</a:t>
            </a:r>
          </a:p>
          <a:p>
            <a:pPr marL="342900" indent="-342900">
              <a:lnSpc>
                <a:spcPct val="200000"/>
              </a:lnSpc>
            </a:pPr>
            <a:r>
              <a:rPr lang="en-US" sz="2400" b="1" dirty="0">
                <a:solidFill>
                  <a:srgbClr val="002060"/>
                </a:solidFill>
              </a:rPr>
              <a:t>Power BI</a:t>
            </a:r>
          </a:p>
          <a:p>
            <a:pPr marL="342900" indent="-342900">
              <a:lnSpc>
                <a:spcPct val="200000"/>
              </a:lnSpc>
            </a:pPr>
            <a:r>
              <a:rPr lang="en-US" sz="2400" b="1" dirty="0">
                <a:solidFill>
                  <a:srgbClr val="002060"/>
                </a:solidFill>
              </a:rPr>
              <a:t>Tableau</a:t>
            </a:r>
          </a:p>
          <a:p>
            <a:pPr marL="342900" indent="-342900">
              <a:lnSpc>
                <a:spcPct val="200000"/>
              </a:lnSpc>
            </a:pPr>
            <a:r>
              <a:rPr lang="en-US" sz="2400" b="1" dirty="0">
                <a:solidFill>
                  <a:srgbClr val="002060"/>
                </a:solidFill>
              </a:rPr>
              <a:t>SQL</a:t>
            </a:r>
          </a:p>
        </p:txBody>
      </p:sp>
      <p:pic>
        <p:nvPicPr>
          <p:cNvPr id="11" name="Picture 10">
            <a:extLst>
              <a:ext uri="{FF2B5EF4-FFF2-40B4-BE49-F238E27FC236}">
                <a16:creationId xmlns:a16="http://schemas.microsoft.com/office/drawing/2014/main" id="{E639D72F-65FF-D0C6-E49B-8C7D852D4ACE}"/>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783510" y="4786393"/>
            <a:ext cx="6108721" cy="810838"/>
          </a:xfrm>
          <a:prstGeom prst="rect">
            <a:avLst/>
          </a:prstGeom>
        </p:spPr>
      </p:pic>
      <p:sp>
        <p:nvSpPr>
          <p:cNvPr id="12" name="Slide Number Placeholder 3">
            <a:extLst>
              <a:ext uri="{FF2B5EF4-FFF2-40B4-BE49-F238E27FC236}">
                <a16:creationId xmlns:a16="http://schemas.microsoft.com/office/drawing/2014/main" id="{07A2331B-A755-7A7F-30C7-F6AF48AC93BA}"/>
              </a:ext>
            </a:extLst>
          </p:cNvPr>
          <p:cNvSpPr txBox="1">
            <a:spLocks/>
          </p:cNvSpPr>
          <p:nvPr/>
        </p:nvSpPr>
        <p:spPr>
          <a:xfrm>
            <a:off x="10358437" y="457199"/>
            <a:ext cx="1067589" cy="471489"/>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en-US" sz="1600" dirty="0">
                <a:solidFill>
                  <a:schemeClr val="accent6"/>
                </a:solidFill>
                <a:latin typeface="+mj-lt"/>
                <a:cs typeface="Arial" panose="020B0604020202020204" pitchFamily="34" charset="0"/>
              </a:rPr>
              <a:t>2</a:t>
            </a:r>
          </a:p>
        </p:txBody>
      </p:sp>
      <p:pic>
        <p:nvPicPr>
          <p:cNvPr id="28" name="Graphic 27" descr="Programmer">
            <a:extLst>
              <a:ext uri="{FF2B5EF4-FFF2-40B4-BE49-F238E27FC236}">
                <a16:creationId xmlns:a16="http://schemas.microsoft.com/office/drawing/2014/main" id="{01DDCED6-18F8-98F4-EC7D-C2957C0360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07139" y="531145"/>
            <a:ext cx="494574" cy="494574"/>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ED3D9-126D-1860-733B-AF96010C5691}"/>
              </a:ext>
            </a:extLst>
          </p:cNvPr>
          <p:cNvSpPr>
            <a:spLocks noGrp="1"/>
          </p:cNvSpPr>
          <p:nvPr>
            <p:ph type="title"/>
          </p:nvPr>
        </p:nvSpPr>
        <p:spPr>
          <a:xfrm>
            <a:off x="3014418" y="770468"/>
            <a:ext cx="7965461" cy="455245"/>
          </a:xfrm>
        </p:spPr>
        <p:txBody>
          <a:bodyPr/>
          <a:lstStyle/>
          <a:p>
            <a:r>
              <a:rPr lang="en-US" sz="2800" dirty="0"/>
              <a:t>Project Overview</a:t>
            </a:r>
          </a:p>
        </p:txBody>
      </p:sp>
      <p:sp>
        <p:nvSpPr>
          <p:cNvPr id="3" name="Content Placeholder 2">
            <a:extLst>
              <a:ext uri="{FF2B5EF4-FFF2-40B4-BE49-F238E27FC236}">
                <a16:creationId xmlns:a16="http://schemas.microsoft.com/office/drawing/2014/main" id="{F4C1EC02-69DC-CE5E-057D-0B8F8A84601B}"/>
              </a:ext>
            </a:extLst>
          </p:cNvPr>
          <p:cNvSpPr>
            <a:spLocks noGrp="1"/>
          </p:cNvSpPr>
          <p:nvPr>
            <p:ph sz="half" idx="2"/>
          </p:nvPr>
        </p:nvSpPr>
        <p:spPr>
          <a:xfrm>
            <a:off x="2639834" y="1452262"/>
            <a:ext cx="8714630" cy="4393904"/>
          </a:xfrm>
        </p:spPr>
        <p:txBody>
          <a:bodyPr>
            <a:normAutofit/>
          </a:bodyPr>
          <a:lstStyle/>
          <a:p>
            <a:pPr>
              <a:buFont typeface="Arial" panose="020B0604020202020204" pitchFamily="34" charset="0"/>
              <a:buChar char="•"/>
            </a:pPr>
            <a:r>
              <a:rPr lang="en-IN" sz="2000" b="1" dirty="0">
                <a:solidFill>
                  <a:srgbClr val="0070C0"/>
                </a:solidFill>
                <a:latin typeface="+mj-lt"/>
              </a:rPr>
              <a:t>Domain : HR Analytics</a:t>
            </a:r>
          </a:p>
          <a:p>
            <a:pPr>
              <a:buFont typeface="Arial" panose="020B0604020202020204" pitchFamily="34" charset="0"/>
              <a:buChar char="•"/>
            </a:pPr>
            <a:r>
              <a:rPr lang="en-IN" sz="2000" b="1" dirty="0">
                <a:solidFill>
                  <a:srgbClr val="0070C0"/>
                </a:solidFill>
                <a:latin typeface="+mj-lt"/>
              </a:rPr>
              <a:t>Project Name: Employee Retention</a:t>
            </a:r>
          </a:p>
          <a:p>
            <a:pPr>
              <a:buFont typeface="Arial" panose="020B0604020202020204" pitchFamily="34" charset="0"/>
              <a:buChar char="•"/>
            </a:pPr>
            <a:r>
              <a:rPr lang="en-IN" sz="2000" b="1" dirty="0">
                <a:solidFill>
                  <a:srgbClr val="0070C0"/>
                </a:solidFill>
                <a:latin typeface="+mj-lt"/>
              </a:rPr>
              <a:t>Dataset Name: HR_1 &amp; HR_2</a:t>
            </a:r>
          </a:p>
          <a:p>
            <a:pPr>
              <a:buFont typeface="Arial" panose="020B0604020202020204" pitchFamily="34" charset="0"/>
              <a:buChar char="•"/>
            </a:pPr>
            <a:r>
              <a:rPr lang="en-IN" sz="2000" b="1" dirty="0">
                <a:solidFill>
                  <a:srgbClr val="0070C0"/>
                </a:solidFill>
                <a:latin typeface="+mj-lt"/>
              </a:rPr>
              <a:t>Dataset Type: Microsoft Excel </a:t>
            </a:r>
          </a:p>
          <a:p>
            <a:pPr>
              <a:buFont typeface="Arial" panose="020B0604020202020204" pitchFamily="34" charset="0"/>
              <a:buChar char="•"/>
            </a:pPr>
            <a:r>
              <a:rPr lang="en-IN" sz="2000" b="1" dirty="0">
                <a:solidFill>
                  <a:srgbClr val="0070C0"/>
                </a:solidFill>
                <a:latin typeface="+mj-lt"/>
              </a:rPr>
              <a:t>Dataset Size: 50k records each</a:t>
            </a:r>
            <a:endParaRPr lang="en-US" sz="2000" b="1" dirty="0">
              <a:solidFill>
                <a:srgbClr val="0070C0"/>
              </a:solidFill>
            </a:endParaRPr>
          </a:p>
        </p:txBody>
      </p:sp>
      <p:sp>
        <p:nvSpPr>
          <p:cNvPr id="4" name="Slide Number Placeholder 3">
            <a:extLst>
              <a:ext uri="{FF2B5EF4-FFF2-40B4-BE49-F238E27FC236}">
                <a16:creationId xmlns:a16="http://schemas.microsoft.com/office/drawing/2014/main" id="{B0422A5D-9389-31A6-7211-FB84DA83D8E2}"/>
              </a:ext>
            </a:extLst>
          </p:cNvPr>
          <p:cNvSpPr>
            <a:spLocks noGrp="1"/>
          </p:cNvSpPr>
          <p:nvPr>
            <p:ph type="sldNum" sz="quarter" idx="10"/>
          </p:nvPr>
        </p:nvSpPr>
        <p:spPr/>
        <p:txBody>
          <a:bodyPr/>
          <a:lstStyle/>
          <a:p>
            <a:r>
              <a:rPr lang="en-US" dirty="0"/>
              <a:t>3</a:t>
            </a:r>
          </a:p>
        </p:txBody>
      </p:sp>
      <p:pic>
        <p:nvPicPr>
          <p:cNvPr id="26" name="Graphic 25" descr="Briefcase">
            <a:extLst>
              <a:ext uri="{FF2B5EF4-FFF2-40B4-BE49-F238E27FC236}">
                <a16:creationId xmlns:a16="http://schemas.microsoft.com/office/drawing/2014/main" id="{7686E49C-6B5D-A8D2-BBC4-BBA98C0EE31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56207" y="779365"/>
            <a:ext cx="455245" cy="455245"/>
          </a:xfrm>
          <a:prstGeom prst="rect">
            <a:avLst/>
          </a:prstGeom>
        </p:spPr>
      </p:pic>
    </p:spTree>
    <p:extLst>
      <p:ext uri="{BB962C8B-B14F-4D97-AF65-F5344CB8AC3E}">
        <p14:creationId xmlns:p14="http://schemas.microsoft.com/office/powerpoint/2010/main" val="300502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5139494" y="29690"/>
            <a:ext cx="3909089" cy="471489"/>
          </a:xfrm>
        </p:spPr>
        <p:txBody>
          <a:bodyPr/>
          <a:lstStyle/>
          <a:p>
            <a:r>
              <a:rPr lang="en-US" sz="2400" dirty="0">
                <a:solidFill>
                  <a:srgbClr val="C00000"/>
                </a:solidFill>
              </a:rPr>
              <a:t>INTRODUCTION</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863543" y="806502"/>
            <a:ext cx="8562483" cy="5244996"/>
          </a:xfrm>
        </p:spPr>
        <p:txBody>
          <a:bodyPr>
            <a:normAutofit/>
          </a:bodyPr>
          <a:lstStyle/>
          <a:p>
            <a:pPr marL="0" indent="0" algn="just">
              <a:lnSpc>
                <a:spcPct val="150000"/>
              </a:lnSpc>
              <a:buNone/>
            </a:pPr>
            <a:r>
              <a:rPr lang="en-US" b="1" dirty="0">
                <a:latin typeface="Times New Roman" panose="02020603050405020304" pitchFamily="18" charset="0"/>
                <a:cs typeface="Times New Roman" panose="02020603050405020304" pitchFamily="18" charset="0"/>
              </a:rPr>
              <a:t>Project Summary</a:t>
            </a:r>
            <a:r>
              <a:rPr lang="en-US" dirty="0">
                <a:latin typeface="Times New Roman" panose="02020603050405020304" pitchFamily="18" charset="0"/>
                <a:cs typeface="Times New Roman" panose="02020603050405020304" pitchFamily="18" charset="0"/>
              </a:rPr>
              <a:t>: </a:t>
            </a:r>
          </a:p>
          <a:p>
            <a:pPr marL="0" indent="0" algn="just">
              <a:lnSpc>
                <a:spcPct val="150000"/>
              </a:lnSpc>
              <a:buNone/>
            </a:pPr>
            <a:r>
              <a:rPr lang="en-US" sz="1200" b="0" i="0" dirty="0">
                <a:solidFill>
                  <a:schemeClr val="tx1"/>
                </a:solidFill>
                <a:effectLst/>
                <a:latin typeface="Times New Roman" panose="02020603050405020304" pitchFamily="18" charset="0"/>
                <a:cs typeface="Times New Roman" panose="02020603050405020304" pitchFamily="18" charset="0"/>
              </a:rPr>
              <a:t>The HR Analytics Project focuses on analyzing real employee data to understand workforce behavior and organizational trends. Its main purpose is to identify the factors affecting employee retention, satisfaction, and performance. By examining key HR metrics like attrition, demographics, job satisfaction, salary, promotions, and performance ratings, the project reveals important patterns in the workforce. It helps the organization understand who is leaving, why they leave, and which departments face higher attrition. The project also shows how salary, workload, and work-life balance influence employee decisions. Overall, it converts raw HR data into insights that support better decision-making and stronger retention strategies.</a:t>
            </a:r>
          </a:p>
          <a:p>
            <a:pPr marL="0" indent="0" algn="just">
              <a:lnSpc>
                <a:spcPct val="150000"/>
              </a:lnSpc>
              <a:buNone/>
            </a:pPr>
            <a:r>
              <a:rPr lang="en-US" sz="2400" b="1" dirty="0">
                <a:latin typeface="Times New Roman" panose="02020603050405020304" pitchFamily="18" charset="0"/>
                <a:cs typeface="Times New Roman" panose="02020603050405020304" pitchFamily="18" charset="0"/>
              </a:rPr>
              <a:t>Objectives:</a:t>
            </a:r>
          </a:p>
          <a:p>
            <a:pPr marL="342900" indent="-342900" algn="just">
              <a:buAutoNum type="arabicPeriod"/>
            </a:pPr>
            <a:r>
              <a:rPr lang="en-US" sz="1200" b="0" i="0" dirty="0">
                <a:solidFill>
                  <a:schemeClr val="tx1"/>
                </a:solidFill>
                <a:effectLst/>
                <a:latin typeface="Times New Roman" panose="02020603050405020304" pitchFamily="18" charset="0"/>
                <a:cs typeface="Times New Roman" panose="02020603050405020304" pitchFamily="18" charset="0"/>
              </a:rPr>
              <a:t>Understand Attrition Drivers </a:t>
            </a:r>
          </a:p>
          <a:p>
            <a:pPr marL="342900" indent="-342900" algn="just">
              <a:buAutoNum type="arabicPeriod"/>
            </a:pPr>
            <a:r>
              <a:rPr lang="en-US" sz="1200" b="0" i="0" dirty="0">
                <a:solidFill>
                  <a:schemeClr val="tx1"/>
                </a:solidFill>
                <a:effectLst/>
                <a:latin typeface="Times New Roman" panose="02020603050405020304" pitchFamily="18" charset="0"/>
                <a:cs typeface="Times New Roman" panose="02020603050405020304" pitchFamily="18" charset="0"/>
              </a:rPr>
              <a:t>Analyze Workforce Demographics (age, gender, education, experience, and marital status distribution) </a:t>
            </a:r>
          </a:p>
          <a:p>
            <a:pPr marL="342900" indent="-342900" algn="just">
              <a:buAutoNum type="arabicPeriod"/>
            </a:pPr>
            <a:r>
              <a:rPr lang="en-US" sz="1200" dirty="0">
                <a:solidFill>
                  <a:schemeClr val="tx1"/>
                </a:solidFill>
                <a:latin typeface="Times New Roman" panose="02020603050405020304" pitchFamily="18" charset="0"/>
                <a:cs typeface="Times New Roman" panose="02020603050405020304" pitchFamily="18" charset="0"/>
              </a:rPr>
              <a:t>Evaluate </a:t>
            </a:r>
            <a:r>
              <a:rPr lang="en-US" sz="1200" b="0" i="0" dirty="0">
                <a:solidFill>
                  <a:schemeClr val="tx1"/>
                </a:solidFill>
                <a:effectLst/>
                <a:latin typeface="Times New Roman" panose="02020603050405020304" pitchFamily="18" charset="0"/>
                <a:cs typeface="Times New Roman" panose="02020603050405020304" pitchFamily="18" charset="0"/>
              </a:rPr>
              <a:t>Employee Satisfaction (job satisfaction, work environment, relationships, and work-life balance) </a:t>
            </a:r>
          </a:p>
          <a:p>
            <a:pPr marL="342900" indent="-342900" algn="just">
              <a:buAutoNum type="arabicPeriod"/>
            </a:pPr>
            <a:r>
              <a:rPr lang="en-US" sz="1200" b="0" i="0" dirty="0">
                <a:solidFill>
                  <a:schemeClr val="tx1"/>
                </a:solidFill>
                <a:effectLst/>
                <a:latin typeface="Times New Roman" panose="02020603050405020304" pitchFamily="18" charset="0"/>
                <a:cs typeface="Times New Roman" panose="02020603050405020304" pitchFamily="18" charset="0"/>
              </a:rPr>
              <a:t>Assess Impact of Salary &amp; Promotions (Check how pay, promotions, and workload influence employee retention)</a:t>
            </a:r>
          </a:p>
          <a:p>
            <a:pPr marL="342900" indent="-342900" algn="just">
              <a:buAutoNum type="arabicPeriod"/>
            </a:pPr>
            <a:r>
              <a:rPr lang="en-US" sz="1200" b="0" i="0" dirty="0">
                <a:solidFill>
                  <a:schemeClr val="tx1"/>
                </a:solidFill>
                <a:effectLst/>
                <a:latin typeface="Times New Roman" panose="02020603050405020304" pitchFamily="18" charset="0"/>
                <a:cs typeface="Times New Roman" panose="02020603050405020304" pitchFamily="18" charset="0"/>
              </a:rPr>
              <a:t>Support HR Decision-Making (Provide insights to improve hiring, training, and engagement strategies) </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p:txBody>
          <a:bodyPr/>
          <a:lstStyle/>
          <a:p>
            <a:r>
              <a:rPr lang="en-US" dirty="0"/>
              <a:t>4</a:t>
            </a:r>
          </a:p>
        </p:txBody>
      </p:sp>
      <p:pic>
        <p:nvPicPr>
          <p:cNvPr id="20" name="Graphic 19" descr="Statistics">
            <a:extLst>
              <a:ext uri="{FF2B5EF4-FFF2-40B4-BE49-F238E27FC236}">
                <a16:creationId xmlns:a16="http://schemas.microsoft.com/office/drawing/2014/main" id="{8CAF5A40-B098-A6F4-14DA-E2A501210E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45491" y="806503"/>
            <a:ext cx="362340" cy="362340"/>
          </a:xfrm>
          <a:prstGeom prst="rect">
            <a:avLst/>
          </a:prstGeom>
        </p:spPr>
      </p:pic>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p:txBody>
          <a:bodyPr/>
          <a:lstStyle/>
          <a:p>
            <a:r>
              <a:rPr lang="en-US" dirty="0"/>
              <a:t>5</a:t>
            </a:r>
          </a:p>
        </p:txBody>
      </p:sp>
      <p:sp>
        <p:nvSpPr>
          <p:cNvPr id="8" name="Content Placeholder 5">
            <a:extLst>
              <a:ext uri="{FF2B5EF4-FFF2-40B4-BE49-F238E27FC236}">
                <a16:creationId xmlns:a16="http://schemas.microsoft.com/office/drawing/2014/main" id="{65A042E6-AD23-3403-03EE-AD886FF84B4A}"/>
              </a:ext>
            </a:extLst>
          </p:cNvPr>
          <p:cNvSpPr txBox="1">
            <a:spLocks/>
          </p:cNvSpPr>
          <p:nvPr/>
        </p:nvSpPr>
        <p:spPr>
          <a:xfrm>
            <a:off x="462364" y="391529"/>
            <a:ext cx="11082929" cy="6334243"/>
          </a:xfrm>
          <a:prstGeom prst="rect">
            <a:avLst/>
          </a:prstGeom>
        </p:spPr>
        <p:txBody>
          <a:bodyPr>
            <a:norm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Attrition</a:t>
            </a:r>
            <a:r>
              <a:rPr lang="en-US" sz="1200" dirty="0">
                <a:solidFill>
                  <a:schemeClr val="tx1"/>
                </a:solidFill>
                <a:latin typeface="Times New Roman" panose="02020603050405020304" pitchFamily="18" charset="0"/>
                <a:cs typeface="Times New Roman" panose="02020603050405020304" pitchFamily="18" charset="0"/>
              </a:rPr>
              <a:t> : Yes</a:t>
            </a:r>
            <a:r>
              <a:rPr lang="en-US" sz="12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200" dirty="0">
                <a:solidFill>
                  <a:schemeClr val="tx1"/>
                </a:solidFill>
                <a:latin typeface="Times New Roman" panose="02020603050405020304" pitchFamily="18" charset="0"/>
                <a:cs typeface="Times New Roman" panose="02020603050405020304" pitchFamily="18" charset="0"/>
              </a:rPr>
              <a:t>Attrition Status: 1 , If “No”, then 0. </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Business Travel</a:t>
            </a:r>
            <a:r>
              <a:rPr lang="en-US" sz="1200" dirty="0">
                <a:solidFill>
                  <a:schemeClr val="tx1"/>
                </a:solidFill>
                <a:latin typeface="Times New Roman" panose="02020603050405020304" pitchFamily="18" charset="0"/>
                <a:cs typeface="Times New Roman" panose="02020603050405020304" pitchFamily="18" charset="0"/>
              </a:rPr>
              <a:t> : Travel Rarely, Non-Travel &amp; Travel Frequently</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Daily Rate: </a:t>
            </a:r>
            <a:r>
              <a:rPr lang="en-US" sz="1200" i="0" dirty="0">
                <a:solidFill>
                  <a:schemeClr val="tx1"/>
                </a:solidFill>
                <a:effectLst/>
                <a:latin typeface="Times New Roman" panose="02020603050405020304" pitchFamily="18" charset="0"/>
                <a:cs typeface="Times New Roman" panose="02020603050405020304" pitchFamily="18" charset="0"/>
              </a:rPr>
              <a:t>Represents the amount an employee earns per day. </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Distance From Home</a:t>
            </a:r>
            <a:r>
              <a:rPr lang="en-US" sz="1200" dirty="0">
                <a:solidFill>
                  <a:schemeClr val="tx1"/>
                </a:solidFill>
                <a:latin typeface="Times New Roman" panose="02020603050405020304" pitchFamily="18" charset="0"/>
                <a:cs typeface="Times New Roman" panose="02020603050405020304" pitchFamily="18" charset="0"/>
              </a:rPr>
              <a:t> : in km </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Education: 1- High School, 2-College, 3- Under Graduate, 4- Post Graduate, 5-PhD</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Education Field: Human Resources, Life Sciences, Marketing, Medical, Technical Degree, Other</a:t>
            </a:r>
            <a:endParaRPr lang="en-US" sz="1200" dirty="0">
              <a:solidFill>
                <a:schemeClr val="tx1"/>
              </a:solidFill>
              <a:latin typeface="Times New Roman" panose="02020603050405020304" pitchFamily="18" charset="0"/>
              <a:cs typeface="Times New Roman" panose="02020603050405020304" pitchFamily="18" charset="0"/>
            </a:endParaRP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Environment Satisfaction: 1 – Poor, 2- Average, 3-Good, 4- Excellent</a:t>
            </a:r>
            <a:r>
              <a:rPr lang="en-US" sz="1200" dirty="0">
                <a:solidFill>
                  <a:schemeClr val="tx1"/>
                </a:solidFill>
                <a:latin typeface="Times New Roman" panose="02020603050405020304" pitchFamily="18" charset="0"/>
                <a:cs typeface="Times New Roman" panose="02020603050405020304" pitchFamily="18" charset="0"/>
              </a:rPr>
              <a:t> </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Gender</a:t>
            </a:r>
            <a:r>
              <a:rPr lang="en-US" sz="1200" dirty="0">
                <a:solidFill>
                  <a:schemeClr val="tx1"/>
                </a:solidFill>
                <a:latin typeface="Times New Roman" panose="02020603050405020304" pitchFamily="18" charset="0"/>
                <a:cs typeface="Times New Roman" panose="02020603050405020304" pitchFamily="18" charset="0"/>
              </a:rPr>
              <a:t> – Female/ Male</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Hourly Rate- Employee charged per hour.</a:t>
            </a:r>
            <a:r>
              <a:rPr lang="en-US" sz="1200" dirty="0">
                <a:solidFill>
                  <a:schemeClr val="tx1"/>
                </a:solidFill>
                <a:latin typeface="Times New Roman" panose="02020603050405020304" pitchFamily="18" charset="0"/>
                <a:cs typeface="Times New Roman" panose="02020603050405020304" pitchFamily="18" charset="0"/>
              </a:rPr>
              <a:t> 1- Inactive/Passive, 2- Poorly Focused, 3- Averagely active, 4- Active</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Job Level: Designation in the company.</a:t>
            </a:r>
            <a:r>
              <a:rPr lang="en-US" sz="1200" dirty="0">
                <a:solidFill>
                  <a:schemeClr val="tx1"/>
                </a:solidFill>
                <a:latin typeface="Times New Roman" panose="02020603050405020304" pitchFamily="18" charset="0"/>
                <a:cs typeface="Times New Roman" panose="02020603050405020304" pitchFamily="18" charset="0"/>
              </a:rPr>
              <a:t>1 - Entry-Level / Associate / Intern , 2- Intermediate Level, 3- Senior Level, 4-Managerial Level, 5- Executive/Director Level</a:t>
            </a:r>
            <a:endParaRPr lang="en-US" sz="1200" i="0" u="none" strike="noStrike" dirty="0">
              <a:solidFill>
                <a:schemeClr val="tx1"/>
              </a:solidFill>
              <a:effectLst/>
              <a:latin typeface="Times New Roman" panose="02020603050405020304" pitchFamily="18" charset="0"/>
              <a:cs typeface="Times New Roman" panose="02020603050405020304" pitchFamily="18" charset="0"/>
            </a:endParaRP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Job Role: Developer, Health care Rep, Human Resources, Lab Technician, Manager, Manufacturing Director, Research Director, Research Scientist, Sales Executive, Sales Rep.</a:t>
            </a:r>
            <a:r>
              <a:rPr lang="en-US" sz="1200" dirty="0">
                <a:solidFill>
                  <a:schemeClr val="tx1"/>
                </a:solidFill>
                <a:latin typeface="Times New Roman" panose="02020603050405020304" pitchFamily="18" charset="0"/>
                <a:cs typeface="Times New Roman" panose="02020603050405020304" pitchFamily="18" charset="0"/>
              </a:rPr>
              <a:t> </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Job Satisfaction: 1- Poor , 2-Average, 3-Good, 4- Excellent</a:t>
            </a:r>
            <a:endParaRPr lang="en-US" sz="1200" dirty="0">
              <a:solidFill>
                <a:schemeClr val="tx1"/>
              </a:solidFill>
              <a:latin typeface="Times New Roman" panose="02020603050405020304" pitchFamily="18" charset="0"/>
              <a:cs typeface="Times New Roman" panose="02020603050405020304" pitchFamily="18" charset="0"/>
            </a:endParaRP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Marital Status</a:t>
            </a:r>
            <a:r>
              <a:rPr lang="en-US" sz="1200" dirty="0">
                <a:solidFill>
                  <a:schemeClr val="tx1"/>
                </a:solidFill>
                <a:latin typeface="Times New Roman" panose="02020603050405020304" pitchFamily="18" charset="0"/>
                <a:cs typeface="Times New Roman" panose="02020603050405020304" pitchFamily="18" charset="0"/>
              </a:rPr>
              <a:t> : Single, Married, Divorced</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Monthly Income</a:t>
            </a:r>
            <a:r>
              <a:rPr lang="en-US" sz="1200" dirty="0">
                <a:solidFill>
                  <a:schemeClr val="tx1"/>
                </a:solidFill>
                <a:latin typeface="Times New Roman" panose="02020603050405020304" pitchFamily="18" charset="0"/>
                <a:cs typeface="Times New Roman" panose="02020603050405020304" pitchFamily="18" charset="0"/>
              </a:rPr>
              <a:t> (HR-2): Monthly salary of an employee</a:t>
            </a:r>
          </a:p>
          <a:p>
            <a:pPr>
              <a:lnSpc>
                <a:spcPct val="150000"/>
              </a:lnSpc>
              <a:spcAft>
                <a:spcPts val="140"/>
              </a:spcAft>
            </a:pPr>
            <a:r>
              <a:rPr lang="en-US" sz="1200" i="0" u="none" strike="noStrike" dirty="0">
                <a:solidFill>
                  <a:schemeClr val="tx1"/>
                </a:solidFill>
                <a:effectLst/>
                <a:latin typeface="Times New Roman" panose="02020603050405020304" pitchFamily="18" charset="0"/>
                <a:cs typeface="Times New Roman" panose="02020603050405020304" pitchFamily="18" charset="0"/>
              </a:rPr>
              <a:t>Monthly income Status</a:t>
            </a:r>
            <a:r>
              <a:rPr lang="en-US" sz="1200" dirty="0">
                <a:solidFill>
                  <a:schemeClr val="tx1"/>
                </a:solidFill>
                <a:latin typeface="Times New Roman" panose="02020603050405020304" pitchFamily="18" charset="0"/>
                <a:cs typeface="Times New Roman" panose="02020603050405020304" pitchFamily="18" charset="0"/>
              </a:rPr>
              <a:t> (HR-2): </a:t>
            </a:r>
          </a:p>
        </p:txBody>
      </p:sp>
      <p:sp>
        <p:nvSpPr>
          <p:cNvPr id="2" name="Rectangle: Beveled 1">
            <a:extLst>
              <a:ext uri="{FF2B5EF4-FFF2-40B4-BE49-F238E27FC236}">
                <a16:creationId xmlns:a16="http://schemas.microsoft.com/office/drawing/2014/main" id="{3B07901F-8024-A34C-47F6-E8841409CB36}"/>
              </a:ext>
            </a:extLst>
          </p:cNvPr>
          <p:cNvSpPr/>
          <p:nvPr/>
        </p:nvSpPr>
        <p:spPr>
          <a:xfrm>
            <a:off x="3542950" y="0"/>
            <a:ext cx="5106099" cy="471489"/>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mj-lt"/>
              </a:rPr>
              <a:t>DATASET OVERVIEWS</a:t>
            </a:r>
          </a:p>
        </p:txBody>
      </p:sp>
      <p:graphicFrame>
        <p:nvGraphicFramePr>
          <p:cNvPr id="9" name="Table 8">
            <a:extLst>
              <a:ext uri="{FF2B5EF4-FFF2-40B4-BE49-F238E27FC236}">
                <a16:creationId xmlns:a16="http://schemas.microsoft.com/office/drawing/2014/main" id="{5042C461-8758-388F-368F-50C2287DE4BA}"/>
              </a:ext>
            </a:extLst>
          </p:cNvPr>
          <p:cNvGraphicFramePr>
            <a:graphicFrameLocks noGrp="1"/>
          </p:cNvGraphicFramePr>
          <p:nvPr>
            <p:extLst>
              <p:ext uri="{D42A27DB-BD31-4B8C-83A1-F6EECF244321}">
                <p14:modId xmlns:p14="http://schemas.microsoft.com/office/powerpoint/2010/main" val="2119252764"/>
              </p:ext>
            </p:extLst>
          </p:nvPr>
        </p:nvGraphicFramePr>
        <p:xfrm>
          <a:off x="2946880" y="5530205"/>
          <a:ext cx="1784146" cy="854692"/>
        </p:xfrm>
        <a:graphic>
          <a:graphicData uri="http://schemas.openxmlformats.org/drawingml/2006/table">
            <a:tbl>
              <a:tblPr>
                <a:tableStyleId>{3B4B98B0-60AC-42C2-AFA5-B58CD77FA1E5}</a:tableStyleId>
              </a:tblPr>
              <a:tblGrid>
                <a:gridCol w="1054268">
                  <a:extLst>
                    <a:ext uri="{9D8B030D-6E8A-4147-A177-3AD203B41FA5}">
                      <a16:colId xmlns:a16="http://schemas.microsoft.com/office/drawing/2014/main" val="678749588"/>
                    </a:ext>
                  </a:extLst>
                </a:gridCol>
                <a:gridCol w="729878">
                  <a:extLst>
                    <a:ext uri="{9D8B030D-6E8A-4147-A177-3AD203B41FA5}">
                      <a16:colId xmlns:a16="http://schemas.microsoft.com/office/drawing/2014/main" val="2040514752"/>
                    </a:ext>
                  </a:extLst>
                </a:gridCol>
              </a:tblGrid>
              <a:tr h="213673">
                <a:tc>
                  <a:txBody>
                    <a:bodyPr/>
                    <a:lstStyle/>
                    <a:p>
                      <a:pPr algn="l" fontAlgn="b"/>
                      <a:r>
                        <a:rPr lang="en-US" sz="900" b="1" u="none" strike="noStrike" dirty="0">
                          <a:effectLst/>
                        </a:rPr>
                        <a:t>Low Income</a:t>
                      </a:r>
                      <a:endParaRPr lang="en-US" sz="9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900" b="1" u="none" strike="noStrike">
                          <a:effectLst/>
                        </a:rPr>
                        <a:t>0-12750</a:t>
                      </a:r>
                      <a:endParaRPr lang="en-US" sz="9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350673066"/>
                  </a:ext>
                </a:extLst>
              </a:tr>
              <a:tr h="213673">
                <a:tc>
                  <a:txBody>
                    <a:bodyPr/>
                    <a:lstStyle/>
                    <a:p>
                      <a:pPr algn="l" fontAlgn="b"/>
                      <a:r>
                        <a:rPr lang="en-US" sz="900" b="1" u="none" strike="noStrike" dirty="0">
                          <a:effectLst/>
                        </a:rPr>
                        <a:t>Medium Income</a:t>
                      </a:r>
                      <a:endParaRPr lang="en-US" sz="9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900" b="1" u="none" strike="noStrike" dirty="0">
                          <a:effectLst/>
                        </a:rPr>
                        <a:t>12751-25500</a:t>
                      </a:r>
                      <a:endParaRPr lang="en-US" sz="9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54114658"/>
                  </a:ext>
                </a:extLst>
              </a:tr>
              <a:tr h="213673">
                <a:tc>
                  <a:txBody>
                    <a:bodyPr/>
                    <a:lstStyle/>
                    <a:p>
                      <a:pPr algn="l" fontAlgn="b"/>
                      <a:r>
                        <a:rPr lang="en-US" sz="900" b="1" u="none" strike="noStrike" dirty="0">
                          <a:effectLst/>
                        </a:rPr>
                        <a:t>High income</a:t>
                      </a:r>
                      <a:endParaRPr lang="en-US" sz="9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US" sz="900" b="1" u="none" strike="noStrike">
                          <a:effectLst/>
                        </a:rPr>
                        <a:t>25501-38250</a:t>
                      </a:r>
                      <a:endParaRPr lang="en-US" sz="9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160723"/>
                  </a:ext>
                </a:extLst>
              </a:tr>
              <a:tr h="213673">
                <a:tc>
                  <a:txBody>
                    <a:bodyPr/>
                    <a:lstStyle/>
                    <a:p>
                      <a:pPr algn="l" fontAlgn="b"/>
                      <a:r>
                        <a:rPr lang="en-US" sz="900" b="1" u="none" strike="noStrike">
                          <a:effectLst/>
                        </a:rPr>
                        <a:t>Very High Income </a:t>
                      </a:r>
                      <a:endParaRPr lang="en-US" sz="9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n-US" sz="900" b="1" u="none" strike="noStrike" dirty="0">
                          <a:effectLst/>
                        </a:rPr>
                        <a:t>38251-50999</a:t>
                      </a:r>
                      <a:endParaRPr lang="en-US" sz="9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22723631"/>
                  </a:ext>
                </a:extLst>
              </a:tr>
            </a:tbl>
          </a:graphicData>
        </a:graphic>
      </p:graphicFrame>
      <p:pic>
        <p:nvPicPr>
          <p:cNvPr id="6" name="Graphic 5" descr="Office worker">
            <a:extLst>
              <a:ext uri="{FF2B5EF4-FFF2-40B4-BE49-F238E27FC236}">
                <a16:creationId xmlns:a16="http://schemas.microsoft.com/office/drawing/2014/main" id="{DFF91F6C-D032-8008-8344-69AF980E2B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059473" y="17712"/>
            <a:ext cx="388952" cy="388952"/>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p:txBody>
          <a:bodyPr/>
          <a:lstStyle/>
          <a:p>
            <a:r>
              <a:rPr lang="en-US" dirty="0"/>
              <a:t>6</a:t>
            </a:r>
          </a:p>
        </p:txBody>
      </p:sp>
      <p:sp>
        <p:nvSpPr>
          <p:cNvPr id="8" name="Content Placeholder 5">
            <a:extLst>
              <a:ext uri="{FF2B5EF4-FFF2-40B4-BE49-F238E27FC236}">
                <a16:creationId xmlns:a16="http://schemas.microsoft.com/office/drawing/2014/main" id="{65A042E6-AD23-3403-03EE-AD886FF84B4A}"/>
              </a:ext>
            </a:extLst>
          </p:cNvPr>
          <p:cNvSpPr txBox="1">
            <a:spLocks/>
          </p:cNvSpPr>
          <p:nvPr/>
        </p:nvSpPr>
        <p:spPr>
          <a:xfrm>
            <a:off x="558404" y="149016"/>
            <a:ext cx="11075192" cy="6334243"/>
          </a:xfrm>
          <a:prstGeom prst="rect">
            <a:avLst/>
          </a:prstGeom>
        </p:spPr>
        <p:txBody>
          <a:bodyPr>
            <a:normAutofit lnSpcReduction="10000"/>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None/>
            </a:pPr>
            <a:endParaRPr lang="en-US" sz="1100" dirty="0">
              <a:solidFill>
                <a:schemeClr val="tx1"/>
              </a:solidFill>
              <a:latin typeface="Times New Roman" panose="02020603050405020304" pitchFamily="18" charset="0"/>
              <a:cs typeface="Times New Roman" panose="02020603050405020304" pitchFamily="18" charset="0"/>
            </a:endParaRP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Num Companies Worked </a:t>
            </a:r>
            <a:r>
              <a:rPr lang="en-US" sz="1100" dirty="0">
                <a:solidFill>
                  <a:schemeClr val="tx1"/>
                </a:solidFill>
                <a:latin typeface="Times New Roman" panose="02020603050405020304" pitchFamily="18" charset="0"/>
                <a:cs typeface="Times New Roman" panose="02020603050405020304" pitchFamily="18" charset="0"/>
              </a:rPr>
              <a:t>(HR-2): Number of companies previously worked</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Over Time</a:t>
            </a:r>
            <a:r>
              <a:rPr lang="en-US" sz="1100" dirty="0">
                <a:solidFill>
                  <a:schemeClr val="tx1"/>
                </a:solidFill>
                <a:latin typeface="Times New Roman" panose="02020603050405020304" pitchFamily="18" charset="0"/>
                <a:cs typeface="Times New Roman" panose="02020603050405020304" pitchFamily="18" charset="0"/>
              </a:rPr>
              <a:t> (HR-2): Yes- Overtime working, No- No Overtimes</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Percent Salary Hike</a:t>
            </a:r>
            <a:r>
              <a:rPr lang="en-US" sz="1100" dirty="0">
                <a:solidFill>
                  <a:schemeClr val="tx1"/>
                </a:solidFill>
                <a:latin typeface="Times New Roman" panose="02020603050405020304" pitchFamily="18" charset="0"/>
                <a:cs typeface="Times New Roman" panose="02020603050405020304" pitchFamily="18" charset="0"/>
              </a:rPr>
              <a:t> (HR-2): Hikes from 1- 49%</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Performance Rating</a:t>
            </a:r>
            <a:r>
              <a:rPr lang="en-US" sz="1100" dirty="0">
                <a:solidFill>
                  <a:schemeClr val="tx1"/>
                </a:solidFill>
                <a:latin typeface="Times New Roman" panose="02020603050405020304" pitchFamily="18" charset="0"/>
                <a:cs typeface="Times New Roman" panose="02020603050405020304" pitchFamily="18" charset="0"/>
              </a:rPr>
              <a:t> (HR-2): 1- Low, 2-Good, 3- Excellent, 4-Outstanding </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Relationship Satisfaction</a:t>
            </a:r>
            <a:r>
              <a:rPr lang="en-US" sz="1100" dirty="0">
                <a:solidFill>
                  <a:schemeClr val="tx1"/>
                </a:solidFill>
                <a:latin typeface="Times New Roman" panose="02020603050405020304" pitchFamily="18" charset="0"/>
                <a:cs typeface="Times New Roman" panose="02020603050405020304" pitchFamily="18" charset="0"/>
              </a:rPr>
              <a:t> (HR-2): 1- Highly Dissatisfied, 2-Dissatisfied, 3- Satisfied, 4- Highly Satisfied</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Standard Hours</a:t>
            </a:r>
            <a:r>
              <a:rPr lang="en-US" sz="1100" dirty="0">
                <a:solidFill>
                  <a:schemeClr val="tx1"/>
                </a:solidFill>
                <a:latin typeface="Times New Roman" panose="02020603050405020304" pitchFamily="18" charset="0"/>
                <a:cs typeface="Times New Roman" panose="02020603050405020304" pitchFamily="18" charset="0"/>
              </a:rPr>
              <a:t> (HR-2): Fixed to 80 hours</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Stock Option Level</a:t>
            </a:r>
            <a:r>
              <a:rPr lang="en-US" sz="1100" dirty="0">
                <a:solidFill>
                  <a:schemeClr val="tx1"/>
                </a:solidFill>
                <a:latin typeface="Times New Roman" panose="02020603050405020304" pitchFamily="18" charset="0"/>
                <a:cs typeface="Times New Roman" panose="02020603050405020304" pitchFamily="18" charset="0"/>
              </a:rPr>
              <a:t> (HR-2) Stocks assigned to employees : 1- Low Level, 2- Medium Level, 3- High Level, 4- Very High level</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Total Working Years</a:t>
            </a:r>
            <a:r>
              <a:rPr lang="en-US" sz="1100" dirty="0">
                <a:solidFill>
                  <a:schemeClr val="tx1"/>
                </a:solidFill>
                <a:latin typeface="Times New Roman" panose="02020603050405020304" pitchFamily="18" charset="0"/>
                <a:cs typeface="Times New Roman" panose="02020603050405020304" pitchFamily="18" charset="0"/>
              </a:rPr>
              <a:t> (HR-2): Employee working years ranging from 2 to 40 years overall</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Training Times Last Year</a:t>
            </a:r>
            <a:r>
              <a:rPr lang="en-US" sz="1100" dirty="0">
                <a:solidFill>
                  <a:schemeClr val="tx1"/>
                </a:solidFill>
                <a:latin typeface="Times New Roman" panose="02020603050405020304" pitchFamily="18" charset="0"/>
                <a:cs typeface="Times New Roman" panose="02020603050405020304" pitchFamily="18" charset="0"/>
              </a:rPr>
              <a:t> (HR-2): 1 to 6 courses/workshops/ trainings conducted on employees</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Work Life Balance</a:t>
            </a:r>
            <a:r>
              <a:rPr lang="en-US" sz="1100" dirty="0">
                <a:solidFill>
                  <a:schemeClr val="tx1"/>
                </a:solidFill>
                <a:latin typeface="Times New Roman" panose="02020603050405020304" pitchFamily="18" charset="0"/>
                <a:cs typeface="Times New Roman" panose="02020603050405020304" pitchFamily="18" charset="0"/>
              </a:rPr>
              <a:t> (HR-2)/ WORK_LIFE_STATUS (HR-2): 1- Bad, 2-Average, 3-Good, 4-Best</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Years At Company</a:t>
            </a:r>
            <a:r>
              <a:rPr lang="en-US" sz="1100" dirty="0">
                <a:solidFill>
                  <a:schemeClr val="tx1"/>
                </a:solidFill>
                <a:latin typeface="Times New Roman" panose="02020603050405020304" pitchFamily="18" charset="0"/>
                <a:cs typeface="Times New Roman" panose="02020603050405020304" pitchFamily="18" charset="0"/>
              </a:rPr>
              <a:t> (HR-2): Employee working years at this company ranging from 2 to 40 years</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Years In Current Role</a:t>
            </a:r>
            <a:r>
              <a:rPr lang="en-US" sz="1100" dirty="0">
                <a:solidFill>
                  <a:schemeClr val="tx1"/>
                </a:solidFill>
                <a:latin typeface="Times New Roman" panose="02020603050405020304" pitchFamily="18" charset="0"/>
                <a:cs typeface="Times New Roman" panose="02020603050405020304" pitchFamily="18" charset="0"/>
              </a:rPr>
              <a:t> (HR-2): Employee working years at this company in the same role ranging from 2 to 40 years</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Years Since Last Promotion</a:t>
            </a:r>
            <a:r>
              <a:rPr lang="en-US" sz="1100" dirty="0">
                <a:solidFill>
                  <a:schemeClr val="tx1"/>
                </a:solidFill>
                <a:latin typeface="Times New Roman" panose="02020603050405020304" pitchFamily="18" charset="0"/>
                <a:cs typeface="Times New Roman" panose="02020603050405020304" pitchFamily="18" charset="0"/>
              </a:rPr>
              <a:t> (HR-2):No of years since the Employee got promoted ranging from 1 to 40 years</a:t>
            </a:r>
            <a:endParaRPr lang="en-US" sz="1100" i="0" u="none" strike="noStrike" dirty="0">
              <a:solidFill>
                <a:schemeClr val="tx1"/>
              </a:solidFill>
              <a:effectLst/>
              <a:latin typeface="Times New Roman" panose="02020603050405020304" pitchFamily="18" charset="0"/>
              <a:cs typeface="Times New Roman" panose="02020603050405020304" pitchFamily="18" charset="0"/>
            </a:endParaRP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Years With Curr Manager</a:t>
            </a:r>
            <a:r>
              <a:rPr lang="en-US" sz="1100" dirty="0">
                <a:solidFill>
                  <a:schemeClr val="tx1"/>
                </a:solidFill>
                <a:latin typeface="Times New Roman" panose="02020603050405020304" pitchFamily="18" charset="0"/>
                <a:cs typeface="Times New Roman" panose="02020603050405020304" pitchFamily="18" charset="0"/>
              </a:rPr>
              <a:t> (HR-2): No of years with the same manager</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Recent Promotion Status</a:t>
            </a:r>
            <a:r>
              <a:rPr lang="en-US" sz="1100" dirty="0">
                <a:solidFill>
                  <a:schemeClr val="tx1"/>
                </a:solidFill>
                <a:latin typeface="Times New Roman" panose="02020603050405020304" pitchFamily="18" charset="0"/>
                <a:cs typeface="Times New Roman" panose="02020603050405020304" pitchFamily="18" charset="0"/>
              </a:rPr>
              <a:t> (HR-2): Recently Promoted where “</a:t>
            </a:r>
            <a:r>
              <a:rPr lang="en-US" sz="1100" i="0" u="none" strike="noStrike" dirty="0">
                <a:solidFill>
                  <a:schemeClr val="tx1"/>
                </a:solidFill>
                <a:effectLst/>
                <a:latin typeface="Times New Roman" panose="02020603050405020304" pitchFamily="18" charset="0"/>
                <a:cs typeface="Times New Roman" panose="02020603050405020304" pitchFamily="18" charset="0"/>
              </a:rPr>
              <a:t>Years Since Last Promotion”</a:t>
            </a:r>
            <a:r>
              <a:rPr lang="en-US" sz="1100" dirty="0">
                <a:solidFill>
                  <a:schemeClr val="tx1"/>
                </a:solidFill>
                <a:latin typeface="Times New Roman" panose="02020603050405020304" pitchFamily="18" charset="0"/>
                <a:cs typeface="Times New Roman" panose="02020603050405020304" pitchFamily="18" charset="0"/>
              </a:rPr>
              <a:t> = 1 &amp; No Recent Promotions where “</a:t>
            </a:r>
            <a:r>
              <a:rPr lang="en-US" sz="1100" i="0" u="none" strike="noStrike" dirty="0">
                <a:solidFill>
                  <a:schemeClr val="tx1"/>
                </a:solidFill>
                <a:effectLst/>
                <a:latin typeface="Times New Roman" panose="02020603050405020304" pitchFamily="18" charset="0"/>
                <a:cs typeface="Times New Roman" panose="02020603050405020304" pitchFamily="18" charset="0"/>
              </a:rPr>
              <a:t>Years Since Last Promotion”</a:t>
            </a:r>
            <a:r>
              <a:rPr lang="en-US" sz="1100" dirty="0">
                <a:solidFill>
                  <a:schemeClr val="tx1"/>
                </a:solidFill>
                <a:latin typeface="Times New Roman" panose="02020603050405020304" pitchFamily="18" charset="0"/>
                <a:cs typeface="Times New Roman" panose="02020603050405020304" pitchFamily="18" charset="0"/>
              </a:rPr>
              <a:t> &gt; 1 </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Promotion Status over years</a:t>
            </a:r>
            <a:r>
              <a:rPr lang="en-US" sz="1100" dirty="0">
                <a:solidFill>
                  <a:schemeClr val="tx1"/>
                </a:solidFill>
                <a:latin typeface="Times New Roman" panose="02020603050405020304" pitchFamily="18" charset="0"/>
                <a:cs typeface="Times New Roman" panose="02020603050405020304" pitchFamily="18" charset="0"/>
              </a:rPr>
              <a:t> (HR-2): 0-10 Promoted </a:t>
            </a:r>
            <a:r>
              <a:rPr lang="en-US" sz="11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100" i="0" u="none" strike="noStrike" dirty="0">
                <a:solidFill>
                  <a:schemeClr val="tx1"/>
                </a:solidFill>
                <a:effectLst/>
                <a:latin typeface="Times New Roman" panose="02020603050405020304" pitchFamily="18" charset="0"/>
                <a:cs typeface="Times New Roman" panose="02020603050405020304" pitchFamily="18" charset="0"/>
              </a:rPr>
              <a:t>Years Since Last Promotion” is 1-10</a:t>
            </a:r>
            <a:r>
              <a:rPr lang="en-US" sz="1100"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100" dirty="0">
                <a:solidFill>
                  <a:schemeClr val="tx1"/>
                </a:solidFill>
                <a:latin typeface="Times New Roman" panose="02020603050405020304" pitchFamily="18" charset="0"/>
                <a:cs typeface="Times New Roman" panose="02020603050405020304" pitchFamily="18" charset="0"/>
              </a:rPr>
              <a:t>, 11-20 Promoted, 21-30 Promoted, 31-40 Promoted</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Age</a:t>
            </a:r>
            <a:r>
              <a:rPr lang="en-US" sz="1100" dirty="0">
                <a:solidFill>
                  <a:schemeClr val="tx1"/>
                </a:solidFill>
                <a:latin typeface="Times New Roman" panose="02020603050405020304" pitchFamily="18" charset="0"/>
                <a:cs typeface="Times New Roman" panose="02020603050405020304" pitchFamily="18" charset="0"/>
              </a:rPr>
              <a:t> </a:t>
            </a:r>
            <a:r>
              <a:rPr lang="en-US" sz="1100" i="0" u="none" strike="noStrike" dirty="0">
                <a:solidFill>
                  <a:schemeClr val="tx1"/>
                </a:solidFill>
                <a:effectLst/>
                <a:latin typeface="Times New Roman" panose="02020603050405020304" pitchFamily="18" charset="0"/>
                <a:cs typeface="Times New Roman" panose="02020603050405020304" pitchFamily="18" charset="0"/>
              </a:rPr>
              <a:t>bins</a:t>
            </a:r>
            <a:r>
              <a:rPr lang="en-US" sz="1100" dirty="0">
                <a:solidFill>
                  <a:schemeClr val="tx1"/>
                </a:solidFill>
                <a:latin typeface="Times New Roman" panose="02020603050405020304" pitchFamily="18" charset="0"/>
                <a:cs typeface="Times New Roman" panose="02020603050405020304" pitchFamily="18" charset="0"/>
              </a:rPr>
              <a:t> (HR-2): Young- 1-15 yrs, Middle Age 15-30 yrs, Old Age 31-45 yrs &amp; Very old 45-60 yrs</a:t>
            </a:r>
          </a:p>
          <a:p>
            <a:pPr>
              <a:lnSpc>
                <a:spcPct val="170000"/>
              </a:lnSpc>
            </a:pPr>
            <a:r>
              <a:rPr lang="en-US" sz="1100" i="0" u="none" strike="noStrike" dirty="0">
                <a:solidFill>
                  <a:schemeClr val="tx1"/>
                </a:solidFill>
                <a:effectLst/>
                <a:latin typeface="Times New Roman" panose="02020603050405020304" pitchFamily="18" charset="0"/>
                <a:cs typeface="Times New Roman" panose="02020603050405020304" pitchFamily="18" charset="0"/>
              </a:rPr>
              <a:t>Job</a:t>
            </a:r>
            <a:r>
              <a:rPr lang="en-US" sz="1100" dirty="0">
                <a:solidFill>
                  <a:schemeClr val="tx1"/>
                </a:solidFill>
                <a:latin typeface="Times New Roman" panose="02020603050405020304" pitchFamily="18" charset="0"/>
                <a:cs typeface="Times New Roman" panose="02020603050405020304" pitchFamily="18" charset="0"/>
              </a:rPr>
              <a:t> </a:t>
            </a:r>
            <a:r>
              <a:rPr lang="en-US" sz="1100" i="0" u="none" strike="noStrike" dirty="0">
                <a:solidFill>
                  <a:schemeClr val="tx1"/>
                </a:solidFill>
                <a:effectLst/>
                <a:latin typeface="Times New Roman" panose="02020603050405020304" pitchFamily="18" charset="0"/>
                <a:cs typeface="Times New Roman" panose="02020603050405020304" pitchFamily="18" charset="0"/>
              </a:rPr>
              <a:t>Satisfaction</a:t>
            </a:r>
            <a:r>
              <a:rPr lang="en-US" sz="1100" dirty="0">
                <a:solidFill>
                  <a:schemeClr val="tx1"/>
                </a:solidFill>
                <a:latin typeface="Times New Roman" panose="02020603050405020304" pitchFamily="18" charset="0"/>
                <a:cs typeface="Times New Roman" panose="02020603050405020304" pitchFamily="18" charset="0"/>
              </a:rPr>
              <a:t> </a:t>
            </a:r>
            <a:r>
              <a:rPr lang="en-US" sz="1100" i="0" u="none" strike="noStrike" dirty="0">
                <a:solidFill>
                  <a:schemeClr val="tx1"/>
                </a:solidFill>
                <a:effectLst/>
                <a:latin typeface="Times New Roman" panose="02020603050405020304" pitchFamily="18" charset="0"/>
                <a:cs typeface="Times New Roman" panose="02020603050405020304" pitchFamily="18" charset="0"/>
              </a:rPr>
              <a:t>Rating</a:t>
            </a:r>
            <a:r>
              <a:rPr lang="en-US" sz="1100" dirty="0">
                <a:solidFill>
                  <a:schemeClr val="tx1"/>
                </a:solidFill>
                <a:latin typeface="Times New Roman" panose="02020603050405020304" pitchFamily="18" charset="0"/>
                <a:cs typeface="Times New Roman" panose="02020603050405020304" pitchFamily="18" charset="0"/>
              </a:rPr>
              <a:t> (HR-2): 1- Poor , 2- Average, 3- Good , 4- Excellent</a:t>
            </a:r>
          </a:p>
        </p:txBody>
      </p:sp>
      <p:sp>
        <p:nvSpPr>
          <p:cNvPr id="3" name="Rectangle: Beveled 2">
            <a:extLst>
              <a:ext uri="{FF2B5EF4-FFF2-40B4-BE49-F238E27FC236}">
                <a16:creationId xmlns:a16="http://schemas.microsoft.com/office/drawing/2014/main" id="{93717BDB-DEA8-B4F5-480F-FB207189F803}"/>
              </a:ext>
            </a:extLst>
          </p:cNvPr>
          <p:cNvSpPr/>
          <p:nvPr/>
        </p:nvSpPr>
        <p:spPr>
          <a:xfrm>
            <a:off x="3542950" y="0"/>
            <a:ext cx="5106099" cy="471489"/>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mj-lt"/>
              </a:rPr>
              <a:t>DATASET OVERVIEW</a:t>
            </a:r>
          </a:p>
        </p:txBody>
      </p:sp>
    </p:spTree>
    <p:extLst>
      <p:ext uri="{BB962C8B-B14F-4D97-AF65-F5344CB8AC3E}">
        <p14:creationId xmlns:p14="http://schemas.microsoft.com/office/powerpoint/2010/main" val="2398585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p:txBody>
          <a:bodyPr/>
          <a:lstStyle/>
          <a:p>
            <a:r>
              <a:rPr lang="en-US" dirty="0"/>
              <a:t>7</a:t>
            </a:r>
          </a:p>
        </p:txBody>
      </p:sp>
      <p:sp>
        <p:nvSpPr>
          <p:cNvPr id="3" name="Rectangle: Beveled 2">
            <a:extLst>
              <a:ext uri="{FF2B5EF4-FFF2-40B4-BE49-F238E27FC236}">
                <a16:creationId xmlns:a16="http://schemas.microsoft.com/office/drawing/2014/main" id="{93717BDB-DEA8-B4F5-480F-FB207189F803}"/>
              </a:ext>
            </a:extLst>
          </p:cNvPr>
          <p:cNvSpPr/>
          <p:nvPr/>
        </p:nvSpPr>
        <p:spPr>
          <a:xfrm>
            <a:off x="3542950" y="0"/>
            <a:ext cx="5106099" cy="471489"/>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mj-lt"/>
              </a:rPr>
              <a:t>DATA MERGING</a:t>
            </a:r>
          </a:p>
        </p:txBody>
      </p:sp>
      <p:sp>
        <p:nvSpPr>
          <p:cNvPr id="2" name="Rectangle 1">
            <a:extLst>
              <a:ext uri="{FF2B5EF4-FFF2-40B4-BE49-F238E27FC236}">
                <a16:creationId xmlns:a16="http://schemas.microsoft.com/office/drawing/2014/main" id="{FCFB0A38-81FD-A18D-1AFB-2B0B49D4952E}"/>
              </a:ext>
            </a:extLst>
          </p:cNvPr>
          <p:cNvSpPr txBox="1">
            <a:spLocks noChangeArrowheads="1"/>
          </p:cNvSpPr>
          <p:nvPr/>
        </p:nvSpPr>
        <p:spPr bwMode="auto">
          <a:xfrm>
            <a:off x="470746" y="415945"/>
            <a:ext cx="10955280" cy="3706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lgn="just" defTabSz="914400" eaLnBrk="0" fontAlgn="base" hangingPunct="0">
              <a:lnSpc>
                <a:spcPct val="150000"/>
              </a:lnSpc>
              <a:spcBef>
                <a:spcPct val="0"/>
              </a:spcBef>
              <a:spcAft>
                <a:spcPct val="0"/>
              </a:spcAft>
              <a:buClrTx/>
              <a:buSzTx/>
              <a:buNone/>
            </a:pPr>
            <a:r>
              <a:rPr lang="en-US" altLang="en-US" sz="1400" b="1" dirty="0">
                <a:solidFill>
                  <a:srgbClr val="C00000"/>
                </a:solidFill>
                <a:latin typeface="Times New Roman" panose="02020603050405020304" pitchFamily="18" charset="0"/>
                <a:cs typeface="Times New Roman" panose="02020603050405020304" pitchFamily="18" charset="0"/>
              </a:rPr>
              <a:t>DATA MERGING</a:t>
            </a:r>
          </a:p>
          <a:p>
            <a:pPr marL="0" indent="0" algn="just" defTabSz="914400" eaLnBrk="0" fontAlgn="base" hangingPunct="0">
              <a:lnSpc>
                <a:spcPct val="150000"/>
              </a:lnSpc>
              <a:spcBef>
                <a:spcPct val="0"/>
              </a:spcBef>
              <a:spcAft>
                <a:spcPct val="0"/>
              </a:spcAft>
              <a:buClrTx/>
              <a:buSzTx/>
              <a:buNone/>
            </a:pPr>
            <a:r>
              <a:rPr lang="en-US" altLang="en-US" sz="1200" b="1" dirty="0">
                <a:solidFill>
                  <a:schemeClr val="tx1"/>
                </a:solidFill>
                <a:latin typeface="Times New Roman" panose="02020603050405020304" pitchFamily="18" charset="0"/>
                <a:cs typeface="Times New Roman" panose="02020603050405020304" pitchFamily="18" charset="0"/>
              </a:rPr>
              <a:t>1. Integration and Consolidation:</a:t>
            </a:r>
            <a:r>
              <a:rPr lang="en-US" altLang="en-US" sz="1200" dirty="0">
                <a:solidFill>
                  <a:schemeClr val="tx1"/>
                </a:solidFill>
                <a:latin typeface="Times New Roman" panose="02020603050405020304" pitchFamily="18" charset="0"/>
                <a:cs typeface="Times New Roman" panose="02020603050405020304" pitchFamily="18" charset="0"/>
              </a:rPr>
              <a:t> </a:t>
            </a:r>
          </a:p>
          <a:p>
            <a:pPr marL="0" indent="0" algn="just" defTabSz="914400" eaLnBrk="0" fontAlgn="base" hangingPunct="0">
              <a:lnSpc>
                <a:spcPct val="150000"/>
              </a:lnSpc>
              <a:spcBef>
                <a:spcPct val="0"/>
              </a:spcBef>
              <a:spcAft>
                <a:spcPct val="0"/>
              </a:spcAft>
              <a:buClrTx/>
              <a:buSzTx/>
              <a:buFontTx/>
              <a:buChar char="•"/>
            </a:pPr>
            <a:r>
              <a:rPr lang="en-US" altLang="en-US" sz="1200" dirty="0">
                <a:solidFill>
                  <a:schemeClr val="tx1"/>
                </a:solidFill>
                <a:latin typeface="Times New Roman" panose="02020603050405020304" pitchFamily="18" charset="0"/>
                <a:cs typeface="Times New Roman" panose="02020603050405020304" pitchFamily="18" charset="0"/>
              </a:rPr>
              <a:t>Merging (using a </a:t>
            </a:r>
            <a:r>
              <a:rPr lang="en-US" altLang="en-US" sz="1200" b="1" dirty="0">
                <a:solidFill>
                  <a:schemeClr val="tx1"/>
                </a:solidFill>
                <a:latin typeface="Times New Roman" panose="02020603050405020304" pitchFamily="18" charset="0"/>
                <a:cs typeface="Times New Roman" panose="02020603050405020304" pitchFamily="18" charset="0"/>
              </a:rPr>
              <a:t>Join</a:t>
            </a:r>
            <a:r>
              <a:rPr lang="en-US" altLang="en-US" sz="1200" dirty="0">
                <a:solidFill>
                  <a:schemeClr val="tx1"/>
                </a:solidFill>
                <a:latin typeface="Times New Roman" panose="02020603050405020304" pitchFamily="18" charset="0"/>
                <a:cs typeface="Times New Roman" panose="02020603050405020304" pitchFamily="18" charset="0"/>
              </a:rPr>
              <a:t>) allows permanent combining the necessary columns of Employee Number from HR 1 and Employee ID from HR 2 into a single, comprehensive table. </a:t>
            </a:r>
          </a:p>
          <a:p>
            <a:pPr marL="0" indent="0" algn="just" defTabSz="914400" eaLnBrk="0" fontAlgn="base" hangingPunct="0">
              <a:lnSpc>
                <a:spcPct val="150000"/>
              </a:lnSpc>
              <a:spcBef>
                <a:spcPct val="0"/>
              </a:spcBef>
              <a:spcAft>
                <a:spcPct val="0"/>
              </a:spcAft>
              <a:buClrTx/>
              <a:buSzTx/>
              <a:buFontTx/>
              <a:buChar char="•"/>
            </a:pPr>
            <a:r>
              <a:rPr lang="en-US" altLang="en-US" sz="1200" dirty="0">
                <a:solidFill>
                  <a:schemeClr val="tx1"/>
                </a:solidFill>
                <a:latin typeface="Times New Roman" panose="02020603050405020304" pitchFamily="18" charset="0"/>
                <a:cs typeface="Times New Roman" panose="02020603050405020304" pitchFamily="18" charset="0"/>
              </a:rPr>
              <a:t>This created a unified view where all required data fields for KPI calculation (like salary, job role, and attrition status) exist in one row per employee.</a:t>
            </a:r>
          </a:p>
          <a:p>
            <a:pPr marL="0" indent="0" algn="just" defTabSz="914400" eaLnBrk="0" fontAlgn="base" hangingPunct="0">
              <a:lnSpc>
                <a:spcPct val="150000"/>
              </a:lnSpc>
              <a:spcBef>
                <a:spcPct val="0"/>
              </a:spcBef>
              <a:spcAft>
                <a:spcPct val="0"/>
              </a:spcAft>
              <a:buClrTx/>
              <a:buSzTx/>
              <a:buNone/>
            </a:pPr>
            <a:endParaRPr lang="en-US" altLang="en-US" sz="1200" dirty="0">
              <a:solidFill>
                <a:schemeClr val="tx1"/>
              </a:solidFill>
              <a:latin typeface="Times New Roman" panose="02020603050405020304" pitchFamily="18" charset="0"/>
              <a:cs typeface="Times New Roman" panose="02020603050405020304" pitchFamily="18" charset="0"/>
            </a:endParaRPr>
          </a:p>
          <a:p>
            <a:pPr marL="0" indent="0" algn="just" defTabSz="914400" eaLnBrk="0" fontAlgn="base" hangingPunct="0">
              <a:lnSpc>
                <a:spcPct val="150000"/>
              </a:lnSpc>
              <a:spcBef>
                <a:spcPct val="0"/>
              </a:spcBef>
              <a:spcAft>
                <a:spcPct val="0"/>
              </a:spcAft>
              <a:buClrTx/>
              <a:buSzTx/>
              <a:buNone/>
            </a:pPr>
            <a:r>
              <a:rPr lang="en-US" altLang="en-US" sz="1200" b="1" dirty="0">
                <a:solidFill>
                  <a:schemeClr val="tx1"/>
                </a:solidFill>
                <a:latin typeface="Times New Roman" panose="02020603050405020304" pitchFamily="18" charset="0"/>
                <a:cs typeface="Times New Roman" panose="02020603050405020304" pitchFamily="18" charset="0"/>
              </a:rPr>
              <a:t>2. Performance Optimization:</a:t>
            </a:r>
            <a:r>
              <a:rPr lang="en-US" altLang="en-US" sz="1200" dirty="0">
                <a:solidFill>
                  <a:schemeClr val="tx1"/>
                </a:solidFill>
                <a:latin typeface="Times New Roman" panose="02020603050405020304" pitchFamily="18" charset="0"/>
                <a:cs typeface="Times New Roman" panose="02020603050405020304" pitchFamily="18" charset="0"/>
              </a:rPr>
              <a:t> </a:t>
            </a:r>
          </a:p>
          <a:p>
            <a:pPr marL="0" indent="0" algn="just" defTabSz="914400" eaLnBrk="0" fontAlgn="base" hangingPunct="0">
              <a:lnSpc>
                <a:spcPct val="150000"/>
              </a:lnSpc>
              <a:spcBef>
                <a:spcPct val="0"/>
              </a:spcBef>
              <a:spcAft>
                <a:spcPct val="0"/>
              </a:spcAft>
              <a:buClrTx/>
              <a:buSzTx/>
              <a:buFontTx/>
              <a:buChar char="•"/>
            </a:pPr>
            <a:r>
              <a:rPr lang="en-US" altLang="en-US" sz="1200" dirty="0">
                <a:solidFill>
                  <a:schemeClr val="tx1"/>
                </a:solidFill>
                <a:latin typeface="Times New Roman" panose="02020603050405020304" pitchFamily="18" charset="0"/>
                <a:cs typeface="Times New Roman" panose="02020603050405020304" pitchFamily="18" charset="0"/>
              </a:rPr>
              <a:t>For these specific datasets and the high-level KPI calculations required (like Attrition Rate by Promotion Status), creating a single joined table often leads to faster query execution and better performance than running complex calculations across two separate, related tables.</a:t>
            </a:r>
          </a:p>
          <a:p>
            <a:pPr marL="0" indent="0" algn="just" defTabSz="914400" eaLnBrk="0" fontAlgn="base" hangingPunct="0">
              <a:lnSpc>
                <a:spcPct val="150000"/>
              </a:lnSpc>
              <a:spcBef>
                <a:spcPct val="0"/>
              </a:spcBef>
              <a:spcAft>
                <a:spcPct val="0"/>
              </a:spcAft>
              <a:buClrTx/>
              <a:buSzTx/>
              <a:buNone/>
            </a:pPr>
            <a:endParaRPr lang="en-US" altLang="en-US" sz="1200" dirty="0">
              <a:solidFill>
                <a:schemeClr val="tx1"/>
              </a:solidFill>
              <a:latin typeface="Times New Roman" panose="02020603050405020304" pitchFamily="18" charset="0"/>
              <a:cs typeface="Times New Roman" panose="02020603050405020304" pitchFamily="18" charset="0"/>
            </a:endParaRPr>
          </a:p>
          <a:p>
            <a:pPr marL="0" indent="0" algn="just" defTabSz="914400" eaLnBrk="0" fontAlgn="base" hangingPunct="0">
              <a:lnSpc>
                <a:spcPct val="150000"/>
              </a:lnSpc>
              <a:spcBef>
                <a:spcPct val="0"/>
              </a:spcBef>
              <a:spcAft>
                <a:spcPct val="0"/>
              </a:spcAft>
              <a:buClrTx/>
              <a:buSzTx/>
              <a:buNone/>
            </a:pPr>
            <a:r>
              <a:rPr lang="en-US" altLang="en-US" sz="1200" b="1" dirty="0">
                <a:solidFill>
                  <a:schemeClr val="tx1"/>
                </a:solidFill>
                <a:latin typeface="Times New Roman" panose="02020603050405020304" pitchFamily="18" charset="0"/>
                <a:cs typeface="Times New Roman" panose="02020603050405020304" pitchFamily="18" charset="0"/>
              </a:rPr>
              <a:t>3. Simple KPI Creation:</a:t>
            </a:r>
            <a:r>
              <a:rPr lang="en-US" altLang="en-US" sz="1200" dirty="0">
                <a:solidFill>
                  <a:schemeClr val="tx1"/>
                </a:solidFill>
                <a:latin typeface="Times New Roman" panose="02020603050405020304" pitchFamily="18" charset="0"/>
                <a:cs typeface="Times New Roman" panose="02020603050405020304" pitchFamily="18" charset="0"/>
              </a:rPr>
              <a:t> A single merged table simplifies the calculation of KPIs like percentages and ratios because the numerator and denominator fields are immediately accessible within the same data source, avoiding the need for complex level-of-detail (LOD) expressions or relationship-based logic.</a:t>
            </a:r>
          </a:p>
          <a:p>
            <a:pPr marL="0" indent="0" algn="just" defTabSz="914400" eaLnBrk="0" fontAlgn="base" hangingPunct="0">
              <a:lnSpc>
                <a:spcPct val="150000"/>
              </a:lnSpc>
              <a:spcBef>
                <a:spcPct val="0"/>
              </a:spcBef>
              <a:spcAft>
                <a:spcPct val="0"/>
              </a:spcAft>
              <a:buClrTx/>
              <a:buSzTx/>
              <a:buNone/>
            </a:pPr>
            <a:endParaRPr lang="en-US" altLang="en-US" sz="1200" dirty="0">
              <a:solidFill>
                <a:schemeClr val="tx1"/>
              </a:solidFill>
              <a:latin typeface="Times New Roman" panose="02020603050405020304" pitchFamily="18" charset="0"/>
              <a:cs typeface="Times New Roman" panose="02020603050405020304" pitchFamily="18" charset="0"/>
            </a:endParaRPr>
          </a:p>
          <a:p>
            <a:pPr marL="0" indent="0" algn="just" defTabSz="914400" eaLnBrk="0" fontAlgn="base" hangingPunct="0">
              <a:lnSpc>
                <a:spcPct val="150000"/>
              </a:lnSpc>
              <a:spcBef>
                <a:spcPct val="0"/>
              </a:spcBef>
              <a:spcAft>
                <a:spcPct val="0"/>
              </a:spcAft>
              <a:buClrTx/>
              <a:buSzTx/>
              <a:buNone/>
            </a:pPr>
            <a:endParaRPr lang="en-US" altLang="en-US" sz="1200" b="1" dirty="0">
              <a:solidFill>
                <a:schemeClr val="tx1"/>
              </a:solidFill>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06DC1362-E32C-EE13-6E24-537CFD24A37D}"/>
              </a:ext>
            </a:extLst>
          </p:cNvPr>
          <p:cNvSpPr>
            <a:spLocks noChangeArrowheads="1"/>
          </p:cNvSpPr>
          <p:nvPr/>
        </p:nvSpPr>
        <p:spPr bwMode="auto">
          <a:xfrm>
            <a:off x="470745" y="3786389"/>
            <a:ext cx="10836010" cy="10926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lnSpc>
                <a:spcPct val="150000"/>
              </a:lnSpc>
              <a:spcBef>
                <a:spcPct val="0"/>
              </a:spcBef>
              <a:spcAft>
                <a:spcPct val="0"/>
              </a:spcAft>
            </a:pPr>
            <a:r>
              <a:rPr lang="en-US" altLang="en-US" sz="1200" b="1" dirty="0">
                <a:solidFill>
                  <a:srgbClr val="C00000"/>
                </a:solidFill>
                <a:latin typeface="Times New Roman" panose="02020603050405020304" pitchFamily="18" charset="0"/>
                <a:cs typeface="Times New Roman" panose="02020603050405020304" pitchFamily="18" charset="0"/>
              </a:rPr>
              <a:t>FILES FOR MERGING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combine data from two separate sources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hr1</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hr2</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a single, cohesive table.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Benefit: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allows for a richer dataset where all relevant employee information (like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Department</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Monthly Income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 Time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analyzed together.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3">
            <a:extLst>
              <a:ext uri="{FF2B5EF4-FFF2-40B4-BE49-F238E27FC236}">
                <a16:creationId xmlns:a16="http://schemas.microsoft.com/office/drawing/2014/main" id="{1D0B6894-22F3-4C85-9CF0-C4DCCFCBAB2C}"/>
              </a:ext>
            </a:extLst>
          </p:cNvPr>
          <p:cNvSpPr>
            <a:spLocks noChangeArrowheads="1"/>
          </p:cNvSpPr>
          <p:nvPr/>
        </p:nvSpPr>
        <p:spPr bwMode="auto">
          <a:xfrm>
            <a:off x="470745" y="4702195"/>
            <a:ext cx="9444532" cy="1422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Table 1 (Top):</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primary table, named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hr1</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Contains general employee and job-related attributes (e.g., Age, Department, Distance From Home).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Table 2 (Bottom):</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secondary table, named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hr2</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Contains compensation and history attributes (e.g., Monthly Income, Num Companies Worked, Over Time).</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pic>
        <p:nvPicPr>
          <p:cNvPr id="22" name="Graphic 21" descr="Venn diagram">
            <a:extLst>
              <a:ext uri="{FF2B5EF4-FFF2-40B4-BE49-F238E27FC236}">
                <a16:creationId xmlns:a16="http://schemas.microsoft.com/office/drawing/2014/main" id="{6EC152A8-74D0-7481-A770-4FB5D8439D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6004" y="36549"/>
            <a:ext cx="398389" cy="398389"/>
          </a:xfrm>
          <a:prstGeom prst="rect">
            <a:avLst/>
          </a:prstGeom>
        </p:spPr>
      </p:pic>
    </p:spTree>
    <p:extLst>
      <p:ext uri="{BB962C8B-B14F-4D97-AF65-F5344CB8AC3E}">
        <p14:creationId xmlns:p14="http://schemas.microsoft.com/office/powerpoint/2010/main" val="4120275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3DA69DF-8C91-9F11-7327-148EB5DB3AF5}"/>
              </a:ext>
            </a:extLst>
          </p:cNvPr>
          <p:cNvSpPr>
            <a:spLocks noGrp="1"/>
          </p:cNvSpPr>
          <p:nvPr>
            <p:ph type="sldNum" sz="quarter" idx="10"/>
          </p:nvPr>
        </p:nvSpPr>
        <p:spPr/>
        <p:txBody>
          <a:bodyPr/>
          <a:lstStyle/>
          <a:p>
            <a:r>
              <a:rPr lang="en-US" dirty="0"/>
              <a:t>8</a:t>
            </a:r>
          </a:p>
        </p:txBody>
      </p:sp>
      <p:pic>
        <p:nvPicPr>
          <p:cNvPr id="7" name="Content Placeholder 6">
            <a:extLst>
              <a:ext uri="{FF2B5EF4-FFF2-40B4-BE49-F238E27FC236}">
                <a16:creationId xmlns:a16="http://schemas.microsoft.com/office/drawing/2014/main" id="{4BCFCB03-A131-536A-D6BA-294F9495AAD5}"/>
              </a:ext>
            </a:extLst>
          </p:cNvPr>
          <p:cNvPicPr>
            <a:picLocks noGrp="1" noChangeAspect="1"/>
          </p:cNvPicPr>
          <p:nvPr>
            <p:ph sz="half" idx="15"/>
          </p:nvPr>
        </p:nvPicPr>
        <p:blipFill>
          <a:blip r:embed="rId2"/>
          <a:stretch>
            <a:fillRect/>
          </a:stretch>
        </p:blipFill>
        <p:spPr>
          <a:xfrm>
            <a:off x="6678359" y="963906"/>
            <a:ext cx="4977518" cy="4048285"/>
          </a:xfrm>
          <a:prstGeom prst="rect">
            <a:avLst/>
          </a:prstGeom>
        </p:spPr>
      </p:pic>
      <p:sp>
        <p:nvSpPr>
          <p:cNvPr id="9" name="Rectangle 1">
            <a:extLst>
              <a:ext uri="{FF2B5EF4-FFF2-40B4-BE49-F238E27FC236}">
                <a16:creationId xmlns:a16="http://schemas.microsoft.com/office/drawing/2014/main" id="{CAA94111-6F63-E23E-53F5-61D221A415D1}"/>
              </a:ext>
            </a:extLst>
          </p:cNvPr>
          <p:cNvSpPr>
            <a:spLocks noChangeArrowheads="1"/>
          </p:cNvSpPr>
          <p:nvPr/>
        </p:nvSpPr>
        <p:spPr bwMode="auto">
          <a:xfrm>
            <a:off x="536123" y="681402"/>
            <a:ext cx="6230438" cy="2254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THE CRUCIAL 'JOIN KEY’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accurately link the rows, a common column (a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must be selected in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both</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tables.</a:t>
            </a:r>
          </a:p>
          <a:p>
            <a:pPr defTabSz="914400" eaLnBrk="0" fontAlgn="base" hangingPunct="0">
              <a:lnSpc>
                <a:spcPct val="150000"/>
              </a:lnSpc>
              <a:spcBef>
                <a:spcPct val="0"/>
              </a:spcBef>
              <a:spcAft>
                <a:spcPct val="0"/>
              </a:spcAft>
              <a:buFontTx/>
              <a:buChar char="•"/>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Example:</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join key is implicitly the employee identifier.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would usually select these two columns to establish the match</a:t>
            </a: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hr1</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is the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Employee Number</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column (seen in the data preview).</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hr2</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is the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Employee ID</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column (seen in the data preview).</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80FF30AB-ED3D-0FEA-755A-DA337EEE1DFD}"/>
              </a:ext>
            </a:extLst>
          </p:cNvPr>
          <p:cNvSpPr>
            <a:spLocks noChangeArrowheads="1"/>
          </p:cNvSpPr>
          <p:nvPr/>
        </p:nvSpPr>
        <p:spPr bwMode="auto">
          <a:xfrm>
            <a:off x="536123" y="3013810"/>
            <a:ext cx="6230438"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UNDERSTANDING THE 'JOIN KIND'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Outer</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join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Explanation: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Outer Join</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ensures that:</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rows from the first table (hr1) are included.</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rows from the second table (hr2) are included.</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Rows that </a:t>
            </a:r>
            <a:r>
              <a:rPr kumimoji="0" lang="en-US" altLang="en-US" sz="12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match</a:t>
            </a: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on the join key are combined.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Beveled 11">
            <a:extLst>
              <a:ext uri="{FF2B5EF4-FFF2-40B4-BE49-F238E27FC236}">
                <a16:creationId xmlns:a16="http://schemas.microsoft.com/office/drawing/2014/main" id="{A35FD024-7764-A4FE-1BF2-AD30B980671F}"/>
              </a:ext>
            </a:extLst>
          </p:cNvPr>
          <p:cNvSpPr/>
          <p:nvPr/>
        </p:nvSpPr>
        <p:spPr>
          <a:xfrm>
            <a:off x="3542950" y="0"/>
            <a:ext cx="5106099" cy="471489"/>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bg1"/>
                </a:solidFill>
                <a:latin typeface="+mj-lt"/>
              </a:rPr>
              <a:t>DATA MERGING</a:t>
            </a:r>
          </a:p>
        </p:txBody>
      </p:sp>
    </p:spTree>
    <p:extLst>
      <p:ext uri="{BB962C8B-B14F-4D97-AF65-F5344CB8AC3E}">
        <p14:creationId xmlns:p14="http://schemas.microsoft.com/office/powerpoint/2010/main" val="1179993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3867440" y="0"/>
            <a:ext cx="5889304" cy="590394"/>
          </a:xfrm>
        </p:spPr>
        <p:txBody>
          <a:bodyPr>
            <a:normAutofit/>
          </a:bodyPr>
          <a:lstStyle/>
          <a:p>
            <a:r>
              <a:rPr lang="en-US" sz="2400" b="1" dirty="0">
                <a:solidFill>
                  <a:srgbClr val="C00000"/>
                </a:solidFill>
              </a:rPr>
              <a:t>EXCEL DASHBOARD</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485658" y="354649"/>
            <a:ext cx="1067589" cy="471489"/>
          </a:xfrm>
        </p:spPr>
        <p:txBody>
          <a:bodyPr/>
          <a:lstStyle/>
          <a:p>
            <a:r>
              <a:rPr lang="en-US" dirty="0"/>
              <a:t>10</a:t>
            </a:r>
          </a:p>
        </p:txBody>
      </p:sp>
      <p:pic>
        <p:nvPicPr>
          <p:cNvPr id="3" name="Picture 2">
            <a:extLst>
              <a:ext uri="{FF2B5EF4-FFF2-40B4-BE49-F238E27FC236}">
                <a16:creationId xmlns:a16="http://schemas.microsoft.com/office/drawing/2014/main" id="{D8E425BC-4C42-BAB0-FF15-B340F8D6106D}"/>
              </a:ext>
            </a:extLst>
          </p:cNvPr>
          <p:cNvPicPr>
            <a:picLocks noChangeAspect="1"/>
          </p:cNvPicPr>
          <p:nvPr/>
        </p:nvPicPr>
        <p:blipFill>
          <a:blip r:embed="rId3"/>
          <a:stretch>
            <a:fillRect/>
          </a:stretch>
        </p:blipFill>
        <p:spPr>
          <a:xfrm>
            <a:off x="264825" y="730607"/>
            <a:ext cx="11509085" cy="5670194"/>
          </a:xfrm>
          <a:prstGeom prst="rect">
            <a:avLst/>
          </a:prstGeom>
        </p:spPr>
      </p:pic>
    </p:spTree>
    <p:extLst>
      <p:ext uri="{BB962C8B-B14F-4D97-AF65-F5344CB8AC3E}">
        <p14:creationId xmlns:p14="http://schemas.microsoft.com/office/powerpoint/2010/main" val="3969996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3646994" y="114360"/>
            <a:ext cx="7843837" cy="471490"/>
          </a:xfrm>
        </p:spPr>
        <p:txBody>
          <a:bodyPr/>
          <a:lstStyle/>
          <a:p>
            <a:r>
              <a:rPr lang="en-US" sz="2400" dirty="0">
                <a:solidFill>
                  <a:srgbClr val="C00000"/>
                </a:solidFill>
              </a:rPr>
              <a:t>POWER BI DASHBOARD</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805429" y="202121"/>
            <a:ext cx="987552" cy="471489"/>
          </a:xfrm>
        </p:spPr>
        <p:txBody>
          <a:bodyPr/>
          <a:lstStyle/>
          <a:p>
            <a:r>
              <a:rPr lang="en-US" dirty="0"/>
              <a:t>11</a:t>
            </a:r>
          </a:p>
        </p:txBody>
      </p:sp>
      <p:pic>
        <p:nvPicPr>
          <p:cNvPr id="6" name="Picture 5">
            <a:extLst>
              <a:ext uri="{FF2B5EF4-FFF2-40B4-BE49-F238E27FC236}">
                <a16:creationId xmlns:a16="http://schemas.microsoft.com/office/drawing/2014/main" id="{55FF6208-BB7F-8C53-B0C1-2D7F2719721F}"/>
              </a:ext>
            </a:extLst>
          </p:cNvPr>
          <p:cNvPicPr>
            <a:picLocks noChangeAspect="1"/>
          </p:cNvPicPr>
          <p:nvPr/>
        </p:nvPicPr>
        <p:blipFill>
          <a:blip r:embed="rId3"/>
          <a:stretch>
            <a:fillRect/>
          </a:stretch>
        </p:blipFill>
        <p:spPr>
          <a:xfrm>
            <a:off x="415388" y="585850"/>
            <a:ext cx="11075443" cy="5850601"/>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3610" y="-31133"/>
            <a:ext cx="9879437" cy="681922"/>
          </a:xfrm>
        </p:spPr>
        <p:txBody>
          <a:bodyPr>
            <a:normAutofit/>
          </a:bodyPr>
          <a:lstStyle/>
          <a:p>
            <a:pPr algn="ctr"/>
            <a:r>
              <a:rPr lang="en-US" sz="2400" b="1" dirty="0">
                <a:solidFill>
                  <a:srgbClr val="C00000"/>
                </a:solidFill>
              </a:rPr>
              <a:t>TABLEAU DASHBOARD</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836087" y="69964"/>
            <a:ext cx="1067589" cy="471489"/>
          </a:xfrm>
        </p:spPr>
        <p:txBody>
          <a:bodyPr/>
          <a:lstStyle/>
          <a:p>
            <a:r>
              <a:rPr lang="en-US" dirty="0"/>
              <a:t>12</a:t>
            </a:r>
          </a:p>
        </p:txBody>
      </p:sp>
      <p:pic>
        <p:nvPicPr>
          <p:cNvPr id="6" name="Picture 5">
            <a:extLst>
              <a:ext uri="{FF2B5EF4-FFF2-40B4-BE49-F238E27FC236}">
                <a16:creationId xmlns:a16="http://schemas.microsoft.com/office/drawing/2014/main" id="{3A7507E3-1761-05A6-95F1-A91480ECFF2B}"/>
              </a:ext>
            </a:extLst>
          </p:cNvPr>
          <p:cNvPicPr>
            <a:picLocks noChangeAspect="1"/>
          </p:cNvPicPr>
          <p:nvPr/>
        </p:nvPicPr>
        <p:blipFill>
          <a:blip r:embed="rId3"/>
          <a:stretch>
            <a:fillRect/>
          </a:stretch>
        </p:blipFill>
        <p:spPr>
          <a:xfrm>
            <a:off x="0" y="541453"/>
            <a:ext cx="12192000" cy="6081293"/>
          </a:xfrm>
          <a:prstGeom prst="rect">
            <a:avLst/>
          </a:prstGeom>
        </p:spPr>
      </p:pic>
    </p:spTree>
    <p:extLst>
      <p:ext uri="{BB962C8B-B14F-4D97-AF65-F5344CB8AC3E}">
        <p14:creationId xmlns:p14="http://schemas.microsoft.com/office/powerpoint/2010/main" val="3207599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4107807" y="-87963"/>
            <a:ext cx="3976385" cy="681922"/>
          </a:xfrm>
        </p:spPr>
        <p:txBody>
          <a:bodyPr>
            <a:normAutofit/>
          </a:bodyPr>
          <a:lstStyle/>
          <a:p>
            <a:r>
              <a:rPr lang="en-US" sz="2400" b="1" dirty="0">
                <a:solidFill>
                  <a:srgbClr val="C00000"/>
                </a:solidFill>
              </a:rPr>
              <a:t>SQL QUERIES FOR KPIS</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p:txBody>
          <a:bodyPr/>
          <a:lstStyle/>
          <a:p>
            <a:r>
              <a:rPr lang="en-US" dirty="0"/>
              <a:t>10</a:t>
            </a:r>
          </a:p>
        </p:txBody>
      </p:sp>
      <p:pic>
        <p:nvPicPr>
          <p:cNvPr id="6" name="Picture 5">
            <a:extLst>
              <a:ext uri="{FF2B5EF4-FFF2-40B4-BE49-F238E27FC236}">
                <a16:creationId xmlns:a16="http://schemas.microsoft.com/office/drawing/2014/main" id="{E8F3FA2E-5FA4-5760-3E48-D9C06644EE03}"/>
              </a:ext>
            </a:extLst>
          </p:cNvPr>
          <p:cNvPicPr>
            <a:picLocks noChangeAspect="1"/>
          </p:cNvPicPr>
          <p:nvPr/>
        </p:nvPicPr>
        <p:blipFill>
          <a:blip r:embed="rId3"/>
          <a:stretch>
            <a:fillRect/>
          </a:stretch>
        </p:blipFill>
        <p:spPr>
          <a:xfrm>
            <a:off x="213568" y="593959"/>
            <a:ext cx="6542450" cy="5104103"/>
          </a:xfrm>
          <a:prstGeom prst="rect">
            <a:avLst/>
          </a:prstGeom>
        </p:spPr>
      </p:pic>
      <p:pic>
        <p:nvPicPr>
          <p:cNvPr id="9" name="Picture 8">
            <a:extLst>
              <a:ext uri="{FF2B5EF4-FFF2-40B4-BE49-F238E27FC236}">
                <a16:creationId xmlns:a16="http://schemas.microsoft.com/office/drawing/2014/main" id="{2417EB87-1799-8A07-012A-4D325E9A957B}"/>
              </a:ext>
            </a:extLst>
          </p:cNvPr>
          <p:cNvPicPr>
            <a:picLocks noChangeAspect="1"/>
          </p:cNvPicPr>
          <p:nvPr/>
        </p:nvPicPr>
        <p:blipFill>
          <a:blip r:embed="rId4"/>
          <a:stretch>
            <a:fillRect/>
          </a:stretch>
        </p:blipFill>
        <p:spPr>
          <a:xfrm>
            <a:off x="6756018" y="593958"/>
            <a:ext cx="5008517" cy="5104103"/>
          </a:xfrm>
          <a:prstGeom prst="rect">
            <a:avLst/>
          </a:prstGeom>
        </p:spPr>
      </p:pic>
      <p:sp>
        <p:nvSpPr>
          <p:cNvPr id="3" name="Slide Number Placeholder 1">
            <a:extLst>
              <a:ext uri="{FF2B5EF4-FFF2-40B4-BE49-F238E27FC236}">
                <a16:creationId xmlns:a16="http://schemas.microsoft.com/office/drawing/2014/main" id="{9F023133-4997-7A95-8D3E-CCF728D3371C}"/>
              </a:ext>
            </a:extLst>
          </p:cNvPr>
          <p:cNvSpPr txBox="1">
            <a:spLocks/>
          </p:cNvSpPr>
          <p:nvPr/>
        </p:nvSpPr>
        <p:spPr>
          <a:xfrm>
            <a:off x="10836087" y="69964"/>
            <a:ext cx="1067589" cy="471489"/>
          </a:xfrm>
          <a:prstGeom prst="rect">
            <a:avLst/>
          </a:prstGeom>
        </p:spPr>
        <p:txBody>
          <a:bodyPr vert="horz" lIns="91440" tIns="45720" rIns="91440" bIns="45720" rtlCol="0" anchor="ctr"/>
          <a:lstStyle>
            <a:defPPr>
              <a:defRPr lang="en-US"/>
            </a:defPPr>
            <a:lvl1pPr marL="0" algn="r" defTabSz="457200" rtl="0" eaLnBrk="1" latinLnBrk="0" hangingPunct="1">
              <a:defRPr sz="1600" b="0" i="0" kern="1200">
                <a:solidFill>
                  <a:schemeClr val="tx1"/>
                </a:solidFill>
                <a:effectLst/>
                <a:latin typeface="+mj-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13</a:t>
            </a:r>
          </a:p>
        </p:txBody>
      </p:sp>
    </p:spTree>
    <p:extLst>
      <p:ext uri="{BB962C8B-B14F-4D97-AF65-F5344CB8AC3E}">
        <p14:creationId xmlns:p14="http://schemas.microsoft.com/office/powerpoint/2010/main" val="4237783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4107807" y="-87963"/>
            <a:ext cx="3976385" cy="681922"/>
          </a:xfrm>
        </p:spPr>
        <p:txBody>
          <a:bodyPr>
            <a:normAutofit/>
          </a:bodyPr>
          <a:lstStyle/>
          <a:p>
            <a:r>
              <a:rPr lang="en-US" sz="2400" b="1" dirty="0">
                <a:solidFill>
                  <a:srgbClr val="C00000"/>
                </a:solidFill>
              </a:rPr>
              <a:t>SQL QUERIES FOR KPIS</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502039" y="35780"/>
            <a:ext cx="1067589" cy="471489"/>
          </a:xfrm>
        </p:spPr>
        <p:txBody>
          <a:bodyPr/>
          <a:lstStyle/>
          <a:p>
            <a:r>
              <a:rPr lang="en-US" dirty="0"/>
              <a:t>14</a:t>
            </a:r>
          </a:p>
        </p:txBody>
      </p:sp>
      <p:pic>
        <p:nvPicPr>
          <p:cNvPr id="4" name="Picture 3">
            <a:extLst>
              <a:ext uri="{FF2B5EF4-FFF2-40B4-BE49-F238E27FC236}">
                <a16:creationId xmlns:a16="http://schemas.microsoft.com/office/drawing/2014/main" id="{1E001FC0-56FA-9362-AFFF-0C91F49D3BC1}"/>
              </a:ext>
            </a:extLst>
          </p:cNvPr>
          <p:cNvPicPr>
            <a:picLocks noChangeAspect="1"/>
          </p:cNvPicPr>
          <p:nvPr/>
        </p:nvPicPr>
        <p:blipFill>
          <a:blip r:embed="rId3"/>
          <a:stretch>
            <a:fillRect/>
          </a:stretch>
        </p:blipFill>
        <p:spPr>
          <a:xfrm>
            <a:off x="143702" y="457199"/>
            <a:ext cx="5446066" cy="6069234"/>
          </a:xfrm>
          <a:prstGeom prst="rect">
            <a:avLst/>
          </a:prstGeom>
        </p:spPr>
      </p:pic>
      <p:pic>
        <p:nvPicPr>
          <p:cNvPr id="8" name="Picture 7">
            <a:extLst>
              <a:ext uri="{FF2B5EF4-FFF2-40B4-BE49-F238E27FC236}">
                <a16:creationId xmlns:a16="http://schemas.microsoft.com/office/drawing/2014/main" id="{3A0532DE-9CE8-159A-EA6A-DD0ADE11E2A9}"/>
              </a:ext>
            </a:extLst>
          </p:cNvPr>
          <p:cNvPicPr>
            <a:picLocks noChangeAspect="1"/>
          </p:cNvPicPr>
          <p:nvPr/>
        </p:nvPicPr>
        <p:blipFill>
          <a:blip r:embed="rId4"/>
          <a:stretch>
            <a:fillRect/>
          </a:stretch>
        </p:blipFill>
        <p:spPr>
          <a:xfrm>
            <a:off x="5589768" y="457199"/>
            <a:ext cx="5210902" cy="2762636"/>
          </a:xfrm>
          <a:prstGeom prst="rect">
            <a:avLst/>
          </a:prstGeom>
        </p:spPr>
      </p:pic>
    </p:spTree>
    <p:extLst>
      <p:ext uri="{BB962C8B-B14F-4D97-AF65-F5344CB8AC3E}">
        <p14:creationId xmlns:p14="http://schemas.microsoft.com/office/powerpoint/2010/main" val="399251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2587606" y="-71058"/>
            <a:ext cx="7016787" cy="582771"/>
          </a:xfrm>
        </p:spPr>
        <p:txBody>
          <a:bodyPr/>
          <a:lstStyle/>
          <a:p>
            <a:pPr algn="ctr"/>
            <a:r>
              <a:rPr lang="en-US" sz="2400" dirty="0">
                <a:solidFill>
                  <a:schemeClr val="bg1"/>
                </a:solidFill>
              </a:rPr>
              <a:t>INSIGHTS</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886607" y="602328"/>
            <a:ext cx="10956324" cy="5653344"/>
          </a:xfrm>
        </p:spPr>
        <p:txBody>
          <a:bodyPr>
            <a:noAutofit/>
          </a:bodyPr>
          <a:lstStyle/>
          <a:p>
            <a:pPr marL="0" indent="0" algn="just">
              <a:buNone/>
            </a:pPr>
            <a:r>
              <a:rPr lang="en-US" sz="1200" b="1" dirty="0">
                <a:solidFill>
                  <a:srgbClr val="C00000"/>
                </a:solidFill>
                <a:latin typeface="Times New Roman" panose="02020603050405020304" pitchFamily="18" charset="0"/>
                <a:cs typeface="Times New Roman" panose="02020603050405020304" pitchFamily="18" charset="0"/>
              </a:rPr>
              <a:t>1. Promotion Has the Strongest Impact on Retention</a:t>
            </a:r>
          </a:p>
          <a:p>
            <a:pPr algn="just"/>
            <a:r>
              <a:rPr lang="en-US" sz="1200" dirty="0">
                <a:latin typeface="Times New Roman" panose="02020603050405020304" pitchFamily="18" charset="0"/>
                <a:cs typeface="Times New Roman" panose="02020603050405020304" pitchFamily="18" charset="0"/>
              </a:rPr>
              <a:t>75–82% of attrition comes from employees who were not recently promoted</a:t>
            </a:r>
          </a:p>
          <a:p>
            <a:pPr algn="just"/>
            <a:r>
              <a:rPr lang="en-US" sz="1200" dirty="0">
                <a:latin typeface="Times New Roman" panose="02020603050405020304" pitchFamily="18" charset="0"/>
                <a:cs typeface="Times New Roman" panose="02020603050405020304" pitchFamily="18" charset="0"/>
              </a:rPr>
              <a:t>Employees who received promotions show significantly lower exit rates</a:t>
            </a:r>
          </a:p>
          <a:p>
            <a:pPr algn="just"/>
            <a:r>
              <a:rPr lang="en-US" sz="1200" b="1" dirty="0">
                <a:latin typeface="Times New Roman" panose="02020603050405020304" pitchFamily="18" charset="0"/>
                <a:cs typeface="Times New Roman" panose="02020603050405020304" pitchFamily="18" charset="0"/>
              </a:rPr>
              <a:t>INSIGHT</a:t>
            </a:r>
            <a:r>
              <a:rPr lang="en-US" sz="1200" dirty="0">
                <a:latin typeface="Times New Roman" panose="02020603050405020304" pitchFamily="18" charset="0"/>
                <a:cs typeface="Times New Roman" panose="02020603050405020304" pitchFamily="18" charset="0"/>
              </a:rPr>
              <a:t>: Lack of career growth is the primary driver of employee turnover</a:t>
            </a:r>
          </a:p>
          <a:p>
            <a:pPr marL="0" indent="0" algn="just">
              <a:buNone/>
            </a:pPr>
            <a:r>
              <a:rPr lang="en-US" sz="1200" b="1" dirty="0">
                <a:solidFill>
                  <a:srgbClr val="C00000"/>
                </a:solidFill>
                <a:latin typeface="Times New Roman" panose="02020603050405020304" pitchFamily="18" charset="0"/>
                <a:cs typeface="Times New Roman" panose="02020603050405020304" pitchFamily="18" charset="0"/>
              </a:rPr>
              <a:t>2.Early &amp; Mid-Career Employees Are at Highest Risk</a:t>
            </a:r>
          </a:p>
          <a:p>
            <a:pPr algn="just"/>
            <a:r>
              <a:rPr lang="en-US" sz="1200" dirty="0">
                <a:latin typeface="Times New Roman" panose="02020603050405020304" pitchFamily="18" charset="0"/>
                <a:cs typeface="Times New Roman" panose="02020603050405020304" pitchFamily="18" charset="0"/>
              </a:rPr>
              <a:t>Highest attrition is observed in 0–10 years since last promotion.</a:t>
            </a:r>
          </a:p>
          <a:p>
            <a:pPr algn="just"/>
            <a:r>
              <a:rPr lang="en-US" sz="1200" dirty="0">
                <a:latin typeface="Times New Roman" panose="02020603050405020304" pitchFamily="18" charset="0"/>
                <a:cs typeface="Times New Roman" panose="02020603050405020304" pitchFamily="18" charset="0"/>
              </a:rPr>
              <a:t>Attrition drastically reduces after 20+ years of tenure</a:t>
            </a:r>
          </a:p>
          <a:p>
            <a:pPr algn="just"/>
            <a:r>
              <a:rPr lang="en-US" sz="1200" b="1" dirty="0">
                <a:latin typeface="Times New Roman" panose="02020603050405020304" pitchFamily="18" charset="0"/>
                <a:cs typeface="Times New Roman" panose="02020603050405020304" pitchFamily="18" charset="0"/>
              </a:rPr>
              <a:t>INSIGHT</a:t>
            </a:r>
            <a:r>
              <a:rPr lang="en-US" sz="1200" dirty="0">
                <a:latin typeface="Times New Roman" panose="02020603050405020304" pitchFamily="18" charset="0"/>
                <a:cs typeface="Times New Roman" panose="02020603050405020304" pitchFamily="18" charset="0"/>
              </a:rPr>
              <a:t>: Employee retention efforts must focus on early-tenure and mid-level employees Work-Life Balance Directly Influences Retention</a:t>
            </a:r>
          </a:p>
          <a:p>
            <a:pPr marL="0" indent="0" algn="just">
              <a:buNone/>
            </a:pPr>
            <a:r>
              <a:rPr lang="en-US" sz="1200" b="1" dirty="0">
                <a:solidFill>
                  <a:srgbClr val="C00000"/>
                </a:solidFill>
                <a:latin typeface="Times New Roman" panose="02020603050405020304" pitchFamily="18" charset="0"/>
                <a:cs typeface="Times New Roman" panose="02020603050405020304" pitchFamily="18" charset="0"/>
              </a:rPr>
              <a:t>3. Work-Life Balance Directly Influences Retention</a:t>
            </a:r>
          </a:p>
          <a:p>
            <a:pPr algn="just"/>
            <a:r>
              <a:rPr lang="en-US" sz="1200" dirty="0">
                <a:latin typeface="Times New Roman" panose="02020603050405020304" pitchFamily="18" charset="0"/>
                <a:cs typeface="Times New Roman" panose="02020603050405020304" pitchFamily="18" charset="0"/>
              </a:rPr>
              <a:t>Employees reporting Poor or Very Poor work-life balance have: Lower job satisfaction, Higher attrition.</a:t>
            </a:r>
          </a:p>
          <a:p>
            <a:pPr algn="just"/>
            <a:r>
              <a:rPr lang="en-US" sz="1200" b="1" dirty="0">
                <a:latin typeface="Times New Roman" panose="02020603050405020304" pitchFamily="18" charset="0"/>
                <a:cs typeface="Times New Roman" panose="02020603050405020304" pitchFamily="18" charset="0"/>
              </a:rPr>
              <a:t>INSIGHT: </a:t>
            </a:r>
            <a:r>
              <a:rPr lang="en-US" sz="1200" dirty="0">
                <a:latin typeface="Times New Roman" panose="02020603050405020304" pitchFamily="18" charset="0"/>
                <a:cs typeface="Times New Roman" panose="02020603050405020304" pitchFamily="18" charset="0"/>
              </a:rPr>
              <a:t>Even competitive salaries fail to retain employees with poor work-life balance</a:t>
            </a:r>
          </a:p>
          <a:p>
            <a:pPr marL="0" indent="0" algn="just">
              <a:buNone/>
            </a:pPr>
            <a:r>
              <a:rPr lang="en-US" sz="1200" b="1" dirty="0">
                <a:solidFill>
                  <a:srgbClr val="C00000"/>
                </a:solidFill>
                <a:latin typeface="Times New Roman" panose="02020603050405020304" pitchFamily="18" charset="0"/>
                <a:cs typeface="Times New Roman" panose="02020603050405020304" pitchFamily="18" charset="0"/>
              </a:rPr>
              <a:t>4. Gender Is Not a Retention Risk Factor</a:t>
            </a:r>
          </a:p>
          <a:p>
            <a:pPr algn="just"/>
            <a:r>
              <a:rPr lang="en-US" sz="1200" dirty="0">
                <a:latin typeface="Times New Roman" panose="02020603050405020304" pitchFamily="18" charset="0"/>
                <a:cs typeface="Times New Roman" panose="02020603050405020304" pitchFamily="18" charset="0"/>
              </a:rPr>
              <a:t>Average hourly wage for male and female employees is almost identical</a:t>
            </a:r>
          </a:p>
          <a:p>
            <a:pPr algn="just"/>
            <a:r>
              <a:rPr lang="en-US" sz="1200" dirty="0">
                <a:latin typeface="Times New Roman" panose="02020603050405020304" pitchFamily="18" charset="0"/>
                <a:cs typeface="Times New Roman" panose="02020603050405020304" pitchFamily="18" charset="0"/>
              </a:rPr>
              <a:t> No noticeable gender-based attrition imbalance</a:t>
            </a:r>
          </a:p>
          <a:p>
            <a:pPr algn="just"/>
            <a:r>
              <a:rPr lang="en-US" sz="1200" b="1" dirty="0">
                <a:latin typeface="Times New Roman" panose="02020603050405020304" pitchFamily="18" charset="0"/>
                <a:cs typeface="Times New Roman" panose="02020603050405020304" pitchFamily="18" charset="0"/>
              </a:rPr>
              <a:t>INSIGHT: </a:t>
            </a:r>
            <a:r>
              <a:rPr lang="en-US" sz="1200" dirty="0">
                <a:latin typeface="Times New Roman" panose="02020603050405020304" pitchFamily="18" charset="0"/>
                <a:cs typeface="Times New Roman" panose="02020603050405020304" pitchFamily="18" charset="0"/>
              </a:rPr>
              <a:t>Retention issues are organizational, not gender-driven</a:t>
            </a:r>
          </a:p>
          <a:p>
            <a:pPr marL="0" indent="0" algn="just">
              <a:lnSpc>
                <a:spcPct val="150000"/>
              </a:lnSpc>
              <a:buNone/>
            </a:pPr>
            <a:endParaRPr lang="en-US" sz="1200" dirty="0">
              <a:latin typeface="Times New Roman" panose="02020603050405020304" pitchFamily="18" charset="0"/>
              <a:cs typeface="Times New Roman" panose="02020603050405020304" pitchFamily="18" charset="0"/>
            </a:endParaRPr>
          </a:p>
          <a:p>
            <a:pPr marL="0" indent="0" algn="just">
              <a:buNone/>
            </a:pPr>
            <a:endParaRPr lang="en-US" sz="12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700868" y="68471"/>
            <a:ext cx="987552" cy="471489"/>
          </a:xfrm>
        </p:spPr>
        <p:txBody>
          <a:bodyPr/>
          <a:lstStyle/>
          <a:p>
            <a:r>
              <a:rPr lang="en-US" dirty="0"/>
              <a:t>15</a:t>
            </a:r>
          </a:p>
        </p:txBody>
      </p:sp>
      <p:pic>
        <p:nvPicPr>
          <p:cNvPr id="18" name="Graphic 17" descr="Statistics RTL">
            <a:extLst>
              <a:ext uri="{FF2B5EF4-FFF2-40B4-BE49-F238E27FC236}">
                <a16:creationId xmlns:a16="http://schemas.microsoft.com/office/drawing/2014/main" id="{C71EA66D-A598-5DA9-1B02-7E47671063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8179" y="64496"/>
            <a:ext cx="335584" cy="335584"/>
          </a:xfrm>
          <a:prstGeom prst="rect">
            <a:avLst/>
          </a:prstGeom>
        </p:spPr>
      </p:pic>
    </p:spTree>
    <p:extLst>
      <p:ext uri="{BB962C8B-B14F-4D97-AF65-F5344CB8AC3E}">
        <p14:creationId xmlns:p14="http://schemas.microsoft.com/office/powerpoint/2010/main" val="249802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117B58-571A-88CC-0D48-3A1A8D6A8E20}"/>
              </a:ext>
            </a:extLst>
          </p:cNvPr>
          <p:cNvSpPr>
            <a:spLocks noGrp="1"/>
          </p:cNvSpPr>
          <p:nvPr>
            <p:ph sz="half" idx="2"/>
          </p:nvPr>
        </p:nvSpPr>
        <p:spPr>
          <a:xfrm>
            <a:off x="850849" y="692943"/>
            <a:ext cx="10575178" cy="5858932"/>
          </a:xfrm>
        </p:spPr>
        <p:txBody>
          <a:bodyPr>
            <a:noAutofit/>
          </a:bodyPr>
          <a:lstStyle/>
          <a:p>
            <a:pPr marL="0" indent="0" algn="just">
              <a:buNone/>
            </a:pPr>
            <a:r>
              <a:rPr lang="en-US" sz="1200" b="1" dirty="0">
                <a:solidFill>
                  <a:srgbClr val="C00000"/>
                </a:solidFill>
                <a:latin typeface="Times New Roman" panose="02020603050405020304" pitchFamily="18" charset="0"/>
                <a:cs typeface="Times New Roman" panose="02020603050405020304" pitchFamily="18" charset="0"/>
              </a:rPr>
              <a:t>5. Department-Wise Retention Risk</a:t>
            </a:r>
          </a:p>
          <a:p>
            <a:pPr algn="just"/>
            <a:r>
              <a:rPr lang="en-US" sz="1200" dirty="0">
                <a:latin typeface="Times New Roman" panose="02020603050405020304" pitchFamily="18" charset="0"/>
                <a:cs typeface="Times New Roman" panose="02020603050405020304" pitchFamily="18" charset="0"/>
              </a:rPr>
              <a:t>Highest attrition: Software, Sales, Support</a:t>
            </a:r>
          </a:p>
          <a:p>
            <a:pPr algn="just"/>
            <a:r>
              <a:rPr lang="en-US" sz="1200" dirty="0">
                <a:latin typeface="Times New Roman" panose="02020603050405020304" pitchFamily="18" charset="0"/>
                <a:cs typeface="Times New Roman" panose="02020603050405020304" pitchFamily="18" charset="0"/>
              </a:rPr>
              <a:t>Lowest attrition :Hardware, Human Resources</a:t>
            </a:r>
          </a:p>
          <a:p>
            <a:pPr algn="just"/>
            <a:r>
              <a:rPr lang="en-US" sz="1200" b="1" dirty="0">
                <a:latin typeface="Times New Roman" panose="02020603050405020304" pitchFamily="18" charset="0"/>
                <a:cs typeface="Times New Roman" panose="02020603050405020304" pitchFamily="18" charset="0"/>
              </a:rPr>
              <a:t>INSIGHT: </a:t>
            </a:r>
            <a:r>
              <a:rPr lang="en-US" sz="1200" dirty="0">
                <a:latin typeface="Times New Roman" panose="02020603050405020304" pitchFamily="18" charset="0"/>
                <a:cs typeface="Times New Roman" panose="02020603050405020304" pitchFamily="18" charset="0"/>
              </a:rPr>
              <a:t>High-pressure and customer-facing roles face the highest burnout-driven exits</a:t>
            </a:r>
          </a:p>
          <a:p>
            <a:pPr marL="0" indent="0" algn="just">
              <a:buNone/>
            </a:pPr>
            <a:r>
              <a:rPr lang="en-US" sz="1200" b="1" dirty="0">
                <a:solidFill>
                  <a:srgbClr val="C00000"/>
                </a:solidFill>
                <a:latin typeface="Times New Roman" panose="02020603050405020304" pitchFamily="18" charset="0"/>
                <a:cs typeface="Times New Roman" panose="02020603050405020304" pitchFamily="18" charset="0"/>
              </a:rPr>
              <a:t>6. Low Salary Bands Experience Higher Attrition</a:t>
            </a:r>
          </a:p>
          <a:p>
            <a:pPr algn="just"/>
            <a:r>
              <a:rPr lang="en-US" sz="1200" dirty="0">
                <a:latin typeface="Times New Roman" panose="02020603050405020304" pitchFamily="18" charset="0"/>
                <a:cs typeface="Times New Roman" panose="02020603050405020304" pitchFamily="18" charset="0"/>
              </a:rPr>
              <a:t> Employees in Very-Low and Low-income ranges show the highest exit rates</a:t>
            </a:r>
          </a:p>
          <a:p>
            <a:pPr algn="just"/>
            <a:r>
              <a:rPr lang="en-US" sz="1200" dirty="0">
                <a:latin typeface="Times New Roman" panose="02020603050405020304" pitchFamily="18" charset="0"/>
                <a:cs typeface="Times New Roman" panose="02020603050405020304" pitchFamily="18" charset="0"/>
              </a:rPr>
              <a:t> High-income groups have significantly better retention</a:t>
            </a:r>
          </a:p>
          <a:p>
            <a:pPr algn="just"/>
            <a:r>
              <a:rPr lang="en-US" sz="1200" b="1" dirty="0">
                <a:latin typeface="Times New Roman" panose="02020603050405020304" pitchFamily="18" charset="0"/>
                <a:cs typeface="Times New Roman" panose="02020603050405020304" pitchFamily="18" charset="0"/>
              </a:rPr>
              <a:t>INSIGHT: </a:t>
            </a:r>
            <a:r>
              <a:rPr lang="en-US" sz="1200" dirty="0">
                <a:latin typeface="Times New Roman" panose="02020603050405020304" pitchFamily="18" charset="0"/>
                <a:cs typeface="Times New Roman" panose="02020603050405020304" pitchFamily="18" charset="0"/>
              </a:rPr>
              <a:t>Compensation plays a critical role in retaining operational and support staff</a:t>
            </a:r>
          </a:p>
          <a:p>
            <a:pPr marL="0" indent="0" algn="just">
              <a:buNone/>
            </a:pPr>
            <a:r>
              <a:rPr lang="en-US" sz="1200" b="1" dirty="0">
                <a:solidFill>
                  <a:srgbClr val="C00000"/>
                </a:solidFill>
                <a:latin typeface="Times New Roman" panose="02020603050405020304" pitchFamily="18" charset="0"/>
                <a:cs typeface="Times New Roman" panose="02020603050405020304" pitchFamily="18" charset="0"/>
              </a:rPr>
              <a:t>7. Job Satisfaction Is a Retention Indicator</a:t>
            </a:r>
          </a:p>
          <a:p>
            <a:pPr algn="just"/>
            <a:r>
              <a:rPr lang="en-US" sz="1200" dirty="0">
                <a:latin typeface="Times New Roman" panose="02020603050405020304" pitchFamily="18" charset="0"/>
                <a:cs typeface="Times New Roman" panose="02020603050405020304" pitchFamily="18" charset="0"/>
              </a:rPr>
              <a:t>Employees with Poor or Average satisfaction ratings contribute disproportionately to attrition</a:t>
            </a:r>
          </a:p>
          <a:p>
            <a:pPr algn="just"/>
            <a:r>
              <a:rPr lang="en-US" sz="1200" dirty="0">
                <a:latin typeface="Times New Roman" panose="02020603050405020304" pitchFamily="18" charset="0"/>
                <a:cs typeface="Times New Roman" panose="02020603050405020304" pitchFamily="18" charset="0"/>
              </a:rPr>
              <a:t>Roles with linked satisfaction &amp; promotion show better retention</a:t>
            </a:r>
          </a:p>
          <a:p>
            <a:pPr algn="just"/>
            <a:r>
              <a:rPr lang="en-US" sz="1200" b="1" dirty="0">
                <a:latin typeface="Times New Roman" panose="02020603050405020304" pitchFamily="18" charset="0"/>
                <a:cs typeface="Times New Roman" panose="02020603050405020304" pitchFamily="18" charset="0"/>
              </a:rPr>
              <a:t>INSIGHT: </a:t>
            </a:r>
            <a:r>
              <a:rPr lang="en-US" sz="1200" dirty="0">
                <a:latin typeface="Times New Roman" panose="02020603050405020304" pitchFamily="18" charset="0"/>
                <a:cs typeface="Times New Roman" panose="02020603050405020304" pitchFamily="18" charset="0"/>
              </a:rPr>
              <a:t>Job satisfaction can be used as an early-warning signal for attrition</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8. **Balanced Hiring but Imbalanced Retention**</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Employee count across job roles is evenly distributed</a:t>
            </a:r>
          </a:p>
          <a:p>
            <a:pPr algn="just">
              <a:lnSpc>
                <a:spcPct val="150000"/>
              </a:lnSpc>
            </a:pPr>
            <a:r>
              <a:rPr lang="en-US" sz="1200" dirty="0">
                <a:latin typeface="Times New Roman" panose="02020603050405020304" pitchFamily="18" charset="0"/>
                <a:cs typeface="Times New Roman" panose="02020603050405020304" pitchFamily="18" charset="0"/>
              </a:rPr>
              <a:t>* Attrition is uneven, concentrated in **lower-paid &amp; high-pressure roles**</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**Insight:** Retention problem is **role-specific**, not hiring-volume related</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 Overall Retention Story (1-Line Summary for Interview)</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&gt; *Employee attrition is primarily driven by lack of promotions, poor work-life balance, and low compensation in high-pressure roles, especially among early-career employees.*</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 🎯 Business Recommendations (Retention-Focused)</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1. Implement **regular promotion &amp; career path planning**</a:t>
            </a:r>
          </a:p>
          <a:p>
            <a:pPr algn="just">
              <a:lnSpc>
                <a:spcPct val="150000"/>
              </a:lnSpc>
            </a:pPr>
            <a:r>
              <a:rPr lang="en-US" sz="1200" dirty="0">
                <a:latin typeface="Times New Roman" panose="02020603050405020304" pitchFamily="18" charset="0"/>
                <a:cs typeface="Times New Roman" panose="02020603050405020304" pitchFamily="18" charset="0"/>
              </a:rPr>
              <a:t>2. Improve **work-life balance policies** in Sales, Software, Support</a:t>
            </a:r>
          </a:p>
          <a:p>
            <a:pPr algn="just">
              <a:lnSpc>
                <a:spcPct val="150000"/>
              </a:lnSpc>
            </a:pPr>
            <a:r>
              <a:rPr lang="en-US" sz="1200" dirty="0">
                <a:latin typeface="Times New Roman" panose="02020603050405020304" pitchFamily="18" charset="0"/>
                <a:cs typeface="Times New Roman" panose="02020603050405020304" pitchFamily="18" charset="0"/>
              </a:rPr>
              <a:t>3. Revise **pay structure for low-income job roles**</a:t>
            </a:r>
          </a:p>
          <a:p>
            <a:pPr algn="just">
              <a:lnSpc>
                <a:spcPct val="150000"/>
              </a:lnSpc>
            </a:pPr>
            <a:r>
              <a:rPr lang="en-US" sz="1200" dirty="0">
                <a:latin typeface="Times New Roman" panose="02020603050405020304" pitchFamily="18" charset="0"/>
                <a:cs typeface="Times New Roman" panose="02020603050405020304" pitchFamily="18" charset="0"/>
              </a:rPr>
              <a:t>4. Track **job satisfaction scores** as an attrition predictor</a:t>
            </a:r>
          </a:p>
          <a:p>
            <a:pPr algn="just">
              <a:lnSpc>
                <a:spcPct val="150000"/>
              </a:lnSpc>
            </a:pPr>
            <a:r>
              <a:rPr lang="en-US" sz="1200" dirty="0">
                <a:latin typeface="Times New Roman" panose="02020603050405020304" pitchFamily="18" charset="0"/>
                <a:cs typeface="Times New Roman" panose="02020603050405020304" pitchFamily="18" charset="0"/>
              </a:rPr>
              <a:t>5. Launch **early-career retention programs**</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If you want, I can also:</a:t>
            </a:r>
          </a:p>
          <a:p>
            <a:pPr algn="just">
              <a:lnSpc>
                <a:spcPct val="150000"/>
              </a:lnSpc>
            </a:pPr>
            <a:r>
              <a:rPr lang="en-US" sz="1200" dirty="0">
                <a:latin typeface="Times New Roman" panose="02020603050405020304" pitchFamily="18" charset="0"/>
                <a:cs typeface="Times New Roman" panose="02020603050405020304" pitchFamily="18" charset="0"/>
              </a:rPr>
              <a:t>✅ Give **5 one-line insights for PPT**</a:t>
            </a:r>
          </a:p>
          <a:p>
            <a:pPr algn="just">
              <a:lnSpc>
                <a:spcPct val="150000"/>
              </a:lnSpc>
            </a:pPr>
            <a:r>
              <a:rPr lang="en-US" sz="1200" dirty="0">
                <a:latin typeface="Times New Roman" panose="02020603050405020304" pitchFamily="18" charset="0"/>
                <a:cs typeface="Times New Roman" panose="02020603050405020304" pitchFamily="18" charset="0"/>
              </a:rPr>
              <a:t>✅ Convert this into **Tableau/Power BI dashboard narration**</a:t>
            </a:r>
          </a:p>
          <a:p>
            <a:pPr algn="just">
              <a:lnSpc>
                <a:spcPct val="150000"/>
              </a:lnSpc>
            </a:pPr>
            <a:r>
              <a:rPr lang="en-US" sz="1200" dirty="0">
                <a:latin typeface="Times New Roman" panose="02020603050405020304" pitchFamily="18" charset="0"/>
                <a:cs typeface="Times New Roman" panose="02020603050405020304" pitchFamily="18" charset="0"/>
              </a:rPr>
              <a:t>✅ Prepare **interview Q&amp;A based on retention**</a:t>
            </a:r>
          </a:p>
          <a:p>
            <a:pPr algn="just">
              <a:lnSpc>
                <a:spcPct val="150000"/>
              </a:lnSpc>
            </a:pPr>
            <a:endParaRPr lang="en-US" sz="1200" dirty="0">
              <a:latin typeface="Times New Roman" panose="02020603050405020304" pitchFamily="18" charset="0"/>
              <a:cs typeface="Times New Roman" panose="02020603050405020304" pitchFamily="18" charset="0"/>
            </a:endParaRPr>
          </a:p>
          <a:p>
            <a:pPr algn="just">
              <a:lnSpc>
                <a:spcPct val="150000"/>
              </a:lnSpc>
            </a:pPr>
            <a:r>
              <a:rPr lang="en-US" sz="1200" dirty="0">
                <a:latin typeface="Times New Roman" panose="02020603050405020304" pitchFamily="18" charset="0"/>
                <a:cs typeface="Times New Roman" panose="02020603050405020304" pitchFamily="18" charset="0"/>
              </a:rPr>
              <a:t>Just say 👍</a:t>
            </a:r>
          </a:p>
          <a:p>
            <a:endParaRPr lang="en-US" sz="1200" dirty="0"/>
          </a:p>
        </p:txBody>
      </p:sp>
      <p:sp>
        <p:nvSpPr>
          <p:cNvPr id="5" name="Slide Number Placeholder 4">
            <a:extLst>
              <a:ext uri="{FF2B5EF4-FFF2-40B4-BE49-F238E27FC236}">
                <a16:creationId xmlns:a16="http://schemas.microsoft.com/office/drawing/2014/main" id="{17E6B6A9-B7C0-6DD9-D2F1-2A7B0EB14DED}"/>
              </a:ext>
            </a:extLst>
          </p:cNvPr>
          <p:cNvSpPr>
            <a:spLocks noGrp="1"/>
          </p:cNvSpPr>
          <p:nvPr>
            <p:ph type="sldNum" sz="quarter" idx="10"/>
          </p:nvPr>
        </p:nvSpPr>
        <p:spPr>
          <a:xfrm>
            <a:off x="10541842" y="70380"/>
            <a:ext cx="987552" cy="471489"/>
          </a:xfrm>
        </p:spPr>
        <p:txBody>
          <a:bodyPr/>
          <a:lstStyle/>
          <a:p>
            <a:r>
              <a:rPr lang="en-US" dirty="0"/>
              <a:t>16</a:t>
            </a:r>
          </a:p>
        </p:txBody>
      </p:sp>
    </p:spTree>
    <p:extLst>
      <p:ext uri="{BB962C8B-B14F-4D97-AF65-F5344CB8AC3E}">
        <p14:creationId xmlns:p14="http://schemas.microsoft.com/office/powerpoint/2010/main" val="169310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2587606" y="-140"/>
            <a:ext cx="7016787" cy="528257"/>
          </a:xfrm>
        </p:spPr>
        <p:txBody>
          <a:bodyPr/>
          <a:lstStyle/>
          <a:p>
            <a:pPr algn="ctr"/>
            <a:r>
              <a:rPr lang="en-US" sz="2400" dirty="0">
                <a:solidFill>
                  <a:schemeClr val="bg1"/>
                </a:solidFill>
              </a:rPr>
              <a:t>KEY TAKEAWAYS</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012464" y="612267"/>
            <a:ext cx="10956324" cy="5633466"/>
          </a:xfrm>
        </p:spPr>
        <p:txBody>
          <a:bodyPr>
            <a:normAutofit fontScale="85000" lnSpcReduction="10000"/>
          </a:bodyPr>
          <a:lstStyle/>
          <a:p>
            <a:pPr algn="just">
              <a:lnSpc>
                <a:spcPct val="150000"/>
              </a:lnSpc>
            </a:pPr>
            <a:r>
              <a:rPr lang="en-US" b="1" dirty="0"/>
              <a:t>Lack of recent promotions leads to high attrition</a:t>
            </a:r>
          </a:p>
          <a:p>
            <a:pPr algn="just">
              <a:lnSpc>
                <a:spcPct val="150000"/>
              </a:lnSpc>
            </a:pPr>
            <a:r>
              <a:rPr lang="en-US" b="1" dirty="0"/>
              <a:t>Career stagnation is a primary reason for exits</a:t>
            </a:r>
          </a:p>
          <a:p>
            <a:pPr algn="just">
              <a:lnSpc>
                <a:spcPct val="150000"/>
              </a:lnSpc>
            </a:pPr>
            <a:r>
              <a:rPr lang="en-US" b="1" dirty="0"/>
              <a:t>Early-career employees show the highest attrition</a:t>
            </a:r>
          </a:p>
          <a:p>
            <a:pPr algn="just">
              <a:lnSpc>
                <a:spcPct val="150000"/>
              </a:lnSpc>
            </a:pPr>
            <a:r>
              <a:rPr lang="en-US" b="1" dirty="0"/>
              <a:t>Attrition decreases as tenure increases</a:t>
            </a:r>
          </a:p>
          <a:p>
            <a:pPr algn="just">
              <a:lnSpc>
                <a:spcPct val="150000"/>
              </a:lnSpc>
            </a:pPr>
            <a:r>
              <a:rPr lang="en-US" b="1" dirty="0"/>
              <a:t>Poor work–life balance increases attrition</a:t>
            </a:r>
          </a:p>
          <a:p>
            <a:pPr algn="just">
              <a:lnSpc>
                <a:spcPct val="150000"/>
              </a:lnSpc>
            </a:pPr>
            <a:r>
              <a:rPr lang="en-US" b="1" dirty="0"/>
              <a:t>Burnout impacts retention more than salary</a:t>
            </a:r>
          </a:p>
          <a:p>
            <a:pPr algn="just">
              <a:lnSpc>
                <a:spcPct val="150000"/>
              </a:lnSpc>
            </a:pPr>
            <a:r>
              <a:rPr lang="en-US" b="1" dirty="0"/>
              <a:t>Software, Support, and Sales face higher attrition</a:t>
            </a:r>
          </a:p>
          <a:p>
            <a:pPr algn="just">
              <a:lnSpc>
                <a:spcPct val="150000"/>
              </a:lnSpc>
            </a:pPr>
            <a:r>
              <a:rPr lang="en-US" b="1" dirty="0"/>
              <a:t>HR and Hardware show better retention</a:t>
            </a:r>
          </a:p>
          <a:p>
            <a:pPr algn="just">
              <a:lnSpc>
                <a:spcPct val="150000"/>
              </a:lnSpc>
            </a:pPr>
            <a:r>
              <a:rPr lang="en-US" b="1" dirty="0"/>
              <a:t>Lower salary bands have higher exits</a:t>
            </a:r>
          </a:p>
          <a:p>
            <a:pPr algn="just">
              <a:lnSpc>
                <a:spcPct val="150000"/>
              </a:lnSpc>
            </a:pPr>
            <a:r>
              <a:rPr lang="en-US" b="1" dirty="0"/>
              <a:t>Low job satisfaction strongly predicts attrition</a:t>
            </a:r>
          </a:p>
          <a:p>
            <a:pPr algn="just">
              <a:lnSpc>
                <a:spcPct val="150000"/>
              </a:lnSpc>
            </a:pPr>
            <a:r>
              <a:rPr lang="en-US" b="1" dirty="0"/>
              <a:t>No significant gender-based attrition difference</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669063" y="73208"/>
            <a:ext cx="987552" cy="471489"/>
          </a:xfrm>
        </p:spPr>
        <p:txBody>
          <a:bodyPr/>
          <a:lstStyle/>
          <a:p>
            <a:r>
              <a:rPr lang="en-US" dirty="0"/>
              <a:t>17</a:t>
            </a:r>
          </a:p>
        </p:txBody>
      </p:sp>
    </p:spTree>
    <p:extLst>
      <p:ext uri="{BB962C8B-B14F-4D97-AF65-F5344CB8AC3E}">
        <p14:creationId xmlns:p14="http://schemas.microsoft.com/office/powerpoint/2010/main" val="2856436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2686460" y="133864"/>
            <a:ext cx="6622297" cy="223945"/>
          </a:xfrm>
        </p:spPr>
        <p:txBody>
          <a:bodyPr/>
          <a:lstStyle/>
          <a:p>
            <a:pPr algn="ctr"/>
            <a:r>
              <a:rPr lang="en-US" sz="2400" dirty="0">
                <a:solidFill>
                  <a:schemeClr val="bg1"/>
                </a:solidFill>
              </a:rPr>
              <a:t>RECOMMENDATIONS</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136822" y="766275"/>
            <a:ext cx="10882183" cy="5624960"/>
          </a:xfrm>
        </p:spPr>
        <p:txBody>
          <a:bodyPr>
            <a:normAutofit/>
          </a:bodyPr>
          <a:lstStyle/>
          <a:p>
            <a:pPr marL="342900" indent="-342900" algn="just">
              <a:lnSpc>
                <a:spcPct val="200000"/>
              </a:lnSpc>
              <a:buClr>
                <a:schemeClr val="tx1"/>
              </a:buClr>
              <a:buAutoNum type="arabicPeriod"/>
            </a:pPr>
            <a:r>
              <a:rPr lang="en-US" b="1" dirty="0"/>
              <a:t>Implement regular promotion &amp; career path planning</a:t>
            </a:r>
          </a:p>
          <a:p>
            <a:pPr marL="342900" indent="-342900" algn="just">
              <a:lnSpc>
                <a:spcPct val="200000"/>
              </a:lnSpc>
              <a:buClr>
                <a:schemeClr val="tx1"/>
              </a:buClr>
              <a:buAutoNum type="arabicPeriod"/>
            </a:pPr>
            <a:r>
              <a:rPr lang="en-US" b="1" dirty="0"/>
              <a:t>Improve work-life balance policies in Sales, Software, Support</a:t>
            </a:r>
          </a:p>
          <a:p>
            <a:pPr marL="342900" indent="-342900" algn="just">
              <a:lnSpc>
                <a:spcPct val="200000"/>
              </a:lnSpc>
              <a:buClr>
                <a:schemeClr val="tx1"/>
              </a:buClr>
              <a:buAutoNum type="arabicPeriod"/>
            </a:pPr>
            <a:r>
              <a:rPr lang="en-US" b="1" dirty="0"/>
              <a:t> Revise pay structure for low-income job roles</a:t>
            </a:r>
          </a:p>
          <a:p>
            <a:pPr marL="342900" indent="-342900" algn="just">
              <a:lnSpc>
                <a:spcPct val="200000"/>
              </a:lnSpc>
              <a:buClr>
                <a:schemeClr val="tx1"/>
              </a:buClr>
              <a:buAutoNum type="arabicPeriod"/>
            </a:pPr>
            <a:r>
              <a:rPr lang="en-US" b="1" dirty="0"/>
              <a:t>Track job satisfaction scores as an attrition predictor</a:t>
            </a:r>
          </a:p>
          <a:p>
            <a:pPr marL="342900" indent="-342900" algn="just">
              <a:lnSpc>
                <a:spcPct val="200000"/>
              </a:lnSpc>
              <a:buClr>
                <a:schemeClr val="tx1"/>
              </a:buClr>
              <a:buAutoNum type="arabicPeriod"/>
            </a:pPr>
            <a:r>
              <a:rPr lang="en-US" b="1" dirty="0"/>
              <a:t> Launch early-career retention programs</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653160" y="27829"/>
            <a:ext cx="987552" cy="471489"/>
          </a:xfrm>
        </p:spPr>
        <p:txBody>
          <a:bodyPr/>
          <a:lstStyle/>
          <a:p>
            <a:r>
              <a:rPr lang="en-US" dirty="0"/>
              <a:t>19</a:t>
            </a:r>
          </a:p>
        </p:txBody>
      </p:sp>
    </p:spTree>
    <p:extLst>
      <p:ext uri="{BB962C8B-B14F-4D97-AF65-F5344CB8AC3E}">
        <p14:creationId xmlns:p14="http://schemas.microsoft.com/office/powerpoint/2010/main" val="3685392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3641124" y="892256"/>
            <a:ext cx="7224583" cy="2727709"/>
          </a:xfrm>
        </p:spPr>
        <p:txBody>
          <a:bodyPr/>
          <a:lstStyle/>
          <a:p>
            <a:r>
              <a:rPr lang="en-US" dirty="0"/>
              <a:t>Thank you…</a:t>
            </a:r>
          </a:p>
        </p:txBody>
      </p:sp>
    </p:spTree>
    <p:extLst>
      <p:ext uri="{BB962C8B-B14F-4D97-AF65-F5344CB8AC3E}">
        <p14:creationId xmlns:p14="http://schemas.microsoft.com/office/powerpoint/2010/main" val="197317304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Organic</Template>
  <TotalTime>3279</TotalTime>
  <Words>1875</Words>
  <Application>Microsoft Office PowerPoint</Application>
  <PresentationFormat>Widescreen</PresentationFormat>
  <Paragraphs>200</Paragraphs>
  <Slides>18</Slides>
  <Notes>15</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Organic</vt:lpstr>
      <vt:lpstr>HR ANALYTICS </vt:lpstr>
      <vt:lpstr>Agenda Project Overview Introduction Dataset Overview Data Merging Final Metric KPIs Dashboards Insights Key Takeaways Recommendations Conclusion </vt:lpstr>
      <vt:lpstr>Project Overview</vt:lpstr>
      <vt:lpstr>INTRODUCTION</vt:lpstr>
      <vt:lpstr>PowerPoint Presentation</vt:lpstr>
      <vt:lpstr>PowerPoint Presentation</vt:lpstr>
      <vt:lpstr>PowerPoint Presentation</vt:lpstr>
      <vt:lpstr>PowerPoint Presentation</vt:lpstr>
      <vt:lpstr>EXCEL DASHBOARD</vt:lpstr>
      <vt:lpstr>POWER BI DASHBOARD</vt:lpstr>
      <vt:lpstr>TABLEAU DASHBOARD</vt:lpstr>
      <vt:lpstr>SQL QUERIES FOR KPIS</vt:lpstr>
      <vt:lpstr>SQL QUERIES FOR KPIS</vt:lpstr>
      <vt:lpstr>INSIGHTS</vt:lpstr>
      <vt:lpstr>PowerPoint Presentation</vt:lpstr>
      <vt:lpstr>KEY TAKEAWAYS</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Muniraj G</dc:creator>
  <cp:lastModifiedBy>neeraj logan</cp:lastModifiedBy>
  <cp:revision>106</cp:revision>
  <dcterms:created xsi:type="dcterms:W3CDTF">2025-10-21T06:33:20Z</dcterms:created>
  <dcterms:modified xsi:type="dcterms:W3CDTF">2025-12-17T12:45:24Z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